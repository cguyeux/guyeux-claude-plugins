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 id="258" r:id="rId4"/>
    <p:sldId id="259" r:id="rId5"/>
    <p:sldId id="260" r:id="rId6"/>
    <p:sldId id="261" r:id="rId7"/>
    <p:sldId id="262" r:id="rId8"/>
    <p:sldId id="265" r:id="rId9"/>
    <p:sldId id="263" r:id="rId10"/>
    <p:sldId id="264" r:id="rId11"/>
    <p:sldId id="266" r:id="rId12"/>
    <p:sldId id="267" r:id="rId13"/>
    <p:sldId id="268" r:id="rId14"/>
    <p:sldId id="269"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ristophe Sola" initials="CS" lastIdx="1" clrIdx="0">
    <p:extLst>
      <p:ext uri="{19B8F6BF-5375-455C-9EA6-DF929625EA0E}">
        <p15:presenceInfo xmlns:p15="http://schemas.microsoft.com/office/powerpoint/2012/main" userId="Christophe S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27"/>
  </p:normalViewPr>
  <p:slideViewPr>
    <p:cSldViewPr snapToGrid="0" snapToObjects="1">
      <p:cViewPr varScale="1">
        <p:scale>
          <a:sx n="105" d="100"/>
          <a:sy n="105"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F3A6E4-7AF9-CF44-AE5D-B2427E11AE3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82E918B-8735-5044-B42A-C2CAB1F13A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D775F30-34AE-684C-93AB-77527F152194}"/>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9C99ADFB-F4CE-1F4B-B9A7-ADB7B5A07F1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7FD611-428A-DC41-9837-5C5802ECA0D3}"/>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2329964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F0B3B9-62B3-9D43-B6F4-95ECF5BB26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434F297-BB44-2048-A5ED-30592AF77D86}"/>
              </a:ext>
            </a:extLst>
          </p:cNvPr>
          <p:cNvSpPr>
            <a:spLocks noGrp="1"/>
          </p:cNvSpPr>
          <p:nvPr>
            <p:ph idx="1"/>
          </p:nvPr>
        </p:nvSpPr>
        <p:spPr/>
        <p:txBody>
          <a:bodyPr/>
          <a:lstStyle/>
          <a:p>
            <a:r>
              <a:rPr lang="fr-FR"/>
              <a:t>Modifier les styles du texte du masque
Deuxième niveau
Troisième niveau
Quatrième niveau
Cinquième niveau</a:t>
            </a:r>
          </a:p>
        </p:txBody>
      </p:sp>
      <p:sp>
        <p:nvSpPr>
          <p:cNvPr id="4" name="Espace réservé de la date 3">
            <a:extLst>
              <a:ext uri="{FF2B5EF4-FFF2-40B4-BE49-F238E27FC236}">
                <a16:creationId xmlns:a16="http://schemas.microsoft.com/office/drawing/2014/main" id="{EF4875D1-6109-F04D-9F31-F37176B4124D}"/>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102E5DA5-CEA9-AD4F-A30C-0C624B7B2D9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223355-70A3-DF48-8DE6-02723CC70994}"/>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355340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AB6B1D-1EBE-394C-A4F4-47C86929238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7804BD1-6D1D-2145-AB57-54F2F9B135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fr-FR"/>
              <a:t>Modifier les styles du texte du masque
Deuxième niveau
Troisième niveau
Quatrième niveau
Cinquième niveau</a:t>
            </a:r>
          </a:p>
        </p:txBody>
      </p:sp>
      <p:sp>
        <p:nvSpPr>
          <p:cNvPr id="4" name="Espace réservé de la date 3">
            <a:extLst>
              <a:ext uri="{FF2B5EF4-FFF2-40B4-BE49-F238E27FC236}">
                <a16:creationId xmlns:a16="http://schemas.microsoft.com/office/drawing/2014/main" id="{D25FC31F-9BA8-FA4F-89AC-B8B519974F7D}"/>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2E25A988-9C89-F746-9EDC-390EC19E8F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8D59AFA-26D3-4645-B9AB-4261E10CA2EB}"/>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975028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8F6FAC-FCF3-4B40-86DB-262AEAC252D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B2A2345-9554-1A44-8300-0D4AD0286CBE}"/>
              </a:ext>
            </a:extLst>
          </p:cNvPr>
          <p:cNvSpPr>
            <a:spLocks noGrp="1"/>
          </p:cNvSpPr>
          <p:nvPr>
            <p:ph sz="half" idx="1"/>
          </p:nvPr>
        </p:nvSpPr>
        <p:spPr>
          <a:xfrm>
            <a:off x="838200" y="1825625"/>
            <a:ext cx="5181600" cy="4351338"/>
          </a:xfrm>
        </p:spPr>
        <p:txBody>
          <a:bodyPr/>
          <a:lstStyle/>
          <a:p>
            <a:r>
              <a:rPr lang="fr-FR"/>
              <a:t>Modifier les styles du texte du masque
Deuxième niveau
Troisième niveau
Quatrième niveau
Cinquième niveau</a:t>
            </a:r>
          </a:p>
        </p:txBody>
      </p:sp>
      <p:sp>
        <p:nvSpPr>
          <p:cNvPr id="4" name="Espace réservé du contenu 3">
            <a:extLst>
              <a:ext uri="{FF2B5EF4-FFF2-40B4-BE49-F238E27FC236}">
                <a16:creationId xmlns:a16="http://schemas.microsoft.com/office/drawing/2014/main" id="{8BE3367A-6923-8443-8D04-F75500262E36}"/>
              </a:ext>
            </a:extLst>
          </p:cNvPr>
          <p:cNvSpPr>
            <a:spLocks noGrp="1"/>
          </p:cNvSpPr>
          <p:nvPr>
            <p:ph sz="half" idx="2"/>
          </p:nvPr>
        </p:nvSpPr>
        <p:spPr>
          <a:xfrm>
            <a:off x="6172200" y="1825625"/>
            <a:ext cx="5181600" cy="4351338"/>
          </a:xfrm>
        </p:spPr>
        <p:txBody>
          <a:bodyPr/>
          <a:lstStyle/>
          <a:p>
            <a:r>
              <a:rPr lang="fr-FR"/>
              <a:t>Modifier les styles du texte du masque
Deuxième niveau
Troisième niveau
Quatrième niveau
Cinquième niveau</a:t>
            </a:r>
          </a:p>
        </p:txBody>
      </p:sp>
      <p:sp>
        <p:nvSpPr>
          <p:cNvPr id="5" name="Espace réservé de la date 4">
            <a:extLst>
              <a:ext uri="{FF2B5EF4-FFF2-40B4-BE49-F238E27FC236}">
                <a16:creationId xmlns:a16="http://schemas.microsoft.com/office/drawing/2014/main" id="{7AD379AC-0DF2-9E40-80C4-848FD254C82F}"/>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6" name="Espace réservé du pied de page 5">
            <a:extLst>
              <a:ext uri="{FF2B5EF4-FFF2-40B4-BE49-F238E27FC236}">
                <a16:creationId xmlns:a16="http://schemas.microsoft.com/office/drawing/2014/main" id="{F3B9F512-6475-734A-8D9F-0686105B3A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A6A366-F851-7343-B18F-1CBE14274BAE}"/>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86055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6897DE-9BE1-8B49-BC5F-6B93FFD2818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5C33697-D609-BE48-9EB1-158A1C426C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fr-FR"/>
              <a:t>Modifier les styles du texte du masque
Deuxième niveau
Troisième niveau
Quatrième niveau
Cinquième niveau</a:t>
            </a:r>
          </a:p>
        </p:txBody>
      </p:sp>
      <p:sp>
        <p:nvSpPr>
          <p:cNvPr id="4" name="Espace réservé du contenu 3">
            <a:extLst>
              <a:ext uri="{FF2B5EF4-FFF2-40B4-BE49-F238E27FC236}">
                <a16:creationId xmlns:a16="http://schemas.microsoft.com/office/drawing/2014/main" id="{5A192BEF-B529-9747-940D-5E30BFC23293}"/>
              </a:ext>
            </a:extLst>
          </p:cNvPr>
          <p:cNvSpPr>
            <a:spLocks noGrp="1"/>
          </p:cNvSpPr>
          <p:nvPr>
            <p:ph sz="half" idx="2"/>
          </p:nvPr>
        </p:nvSpPr>
        <p:spPr>
          <a:xfrm>
            <a:off x="839788" y="2505075"/>
            <a:ext cx="5157787" cy="3684588"/>
          </a:xfrm>
        </p:spPr>
        <p:txBody>
          <a:bodyPr/>
          <a:lstStyle/>
          <a:p>
            <a:r>
              <a:rPr lang="fr-FR"/>
              <a:t>Modifier les styles du texte du masque
Deuxième niveau
Troisième niveau
Quatrième niveau
Cinquième niveau</a:t>
            </a:r>
          </a:p>
        </p:txBody>
      </p:sp>
      <p:sp>
        <p:nvSpPr>
          <p:cNvPr id="5" name="Espace réservé du texte 4">
            <a:extLst>
              <a:ext uri="{FF2B5EF4-FFF2-40B4-BE49-F238E27FC236}">
                <a16:creationId xmlns:a16="http://schemas.microsoft.com/office/drawing/2014/main" id="{2FF5CD82-F379-8545-8ACB-7E1BA2E0C9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fr-FR"/>
              <a:t>Modifier les styles du texte du masque
Deuxième niveau
Troisième niveau
Quatrième niveau
Cinquième niveau</a:t>
            </a:r>
          </a:p>
        </p:txBody>
      </p:sp>
      <p:sp>
        <p:nvSpPr>
          <p:cNvPr id="6" name="Espace réservé du contenu 5">
            <a:extLst>
              <a:ext uri="{FF2B5EF4-FFF2-40B4-BE49-F238E27FC236}">
                <a16:creationId xmlns:a16="http://schemas.microsoft.com/office/drawing/2014/main" id="{6E5FA613-CDDC-6D48-9D53-50C104B99FCF}"/>
              </a:ext>
            </a:extLst>
          </p:cNvPr>
          <p:cNvSpPr>
            <a:spLocks noGrp="1"/>
          </p:cNvSpPr>
          <p:nvPr>
            <p:ph sz="quarter" idx="4"/>
          </p:nvPr>
        </p:nvSpPr>
        <p:spPr>
          <a:xfrm>
            <a:off x="6172200" y="2505075"/>
            <a:ext cx="5183188" cy="3684588"/>
          </a:xfrm>
        </p:spPr>
        <p:txBody>
          <a:bodyPr/>
          <a:lstStyle/>
          <a:p>
            <a:r>
              <a:rPr lang="fr-FR"/>
              <a:t>Modifier les styles du texte du masque
Deuxième niveau
Troisième niveau
Quatrième niveau
Cinquième niveau</a:t>
            </a:r>
          </a:p>
        </p:txBody>
      </p:sp>
      <p:sp>
        <p:nvSpPr>
          <p:cNvPr id="7" name="Espace réservé de la date 6">
            <a:extLst>
              <a:ext uri="{FF2B5EF4-FFF2-40B4-BE49-F238E27FC236}">
                <a16:creationId xmlns:a16="http://schemas.microsoft.com/office/drawing/2014/main" id="{0F7F2FF3-4685-D74F-BF45-05C201487CDA}"/>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8" name="Espace réservé du pied de page 7">
            <a:extLst>
              <a:ext uri="{FF2B5EF4-FFF2-40B4-BE49-F238E27FC236}">
                <a16:creationId xmlns:a16="http://schemas.microsoft.com/office/drawing/2014/main" id="{29CFB267-3B4B-554F-B2F9-CCE51072043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3315C61-E086-174C-8E2D-C7C95C3AE246}"/>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410365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445531-D6D4-0247-AA74-795E3805025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F9CF04D-8196-7C41-AA07-A26F998B0A02}"/>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4" name="Espace réservé du pied de page 3">
            <a:extLst>
              <a:ext uri="{FF2B5EF4-FFF2-40B4-BE49-F238E27FC236}">
                <a16:creationId xmlns:a16="http://schemas.microsoft.com/office/drawing/2014/main" id="{5C57C944-0D07-8443-ADE4-86F552BD060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00709B1-3CE5-3943-9D29-D4436FADD6C7}"/>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2042669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95C0C64-2000-6447-976D-1224F53BA38F}"/>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3" name="Espace réservé du pied de page 2">
            <a:extLst>
              <a:ext uri="{FF2B5EF4-FFF2-40B4-BE49-F238E27FC236}">
                <a16:creationId xmlns:a16="http://schemas.microsoft.com/office/drawing/2014/main" id="{33162A20-45E1-5D44-8954-65762752A8A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80D2762B-6854-4F42-B19A-26C811CA0A59}"/>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47450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91989F-D8A4-C848-A254-BF54D8DBB18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D3B3677E-438D-2744-AA27-4C34406C84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fr-FR"/>
              <a:t>Modifier les styles du texte du masque
Deuxième niveau
Troisième niveau
Quatrième niveau
Cinquième niveau</a:t>
            </a:r>
          </a:p>
        </p:txBody>
      </p:sp>
      <p:sp>
        <p:nvSpPr>
          <p:cNvPr id="4" name="Espace réservé du texte 3">
            <a:extLst>
              <a:ext uri="{FF2B5EF4-FFF2-40B4-BE49-F238E27FC236}">
                <a16:creationId xmlns:a16="http://schemas.microsoft.com/office/drawing/2014/main" id="{85A974FE-FC50-C645-B072-FEBE24E0A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fr-FR"/>
              <a:t>Modifier les styles du texte du masque
Deuxième niveau
Troisième niveau
Quatrième niveau
Cinquième niveau</a:t>
            </a:r>
          </a:p>
        </p:txBody>
      </p:sp>
      <p:sp>
        <p:nvSpPr>
          <p:cNvPr id="5" name="Espace réservé de la date 4">
            <a:extLst>
              <a:ext uri="{FF2B5EF4-FFF2-40B4-BE49-F238E27FC236}">
                <a16:creationId xmlns:a16="http://schemas.microsoft.com/office/drawing/2014/main" id="{5D589176-AADC-6D47-A9A7-FC3815B1EE5B}"/>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6" name="Espace réservé du pied de page 5">
            <a:extLst>
              <a:ext uri="{FF2B5EF4-FFF2-40B4-BE49-F238E27FC236}">
                <a16:creationId xmlns:a16="http://schemas.microsoft.com/office/drawing/2014/main" id="{E6A9C510-9488-4243-A72E-D240AA530AA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4981EC-364B-E847-A7AD-EAC0A01BDDBE}"/>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41099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37552D-61FD-E949-983B-72ED915BF20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2926B70-24A2-9C42-853A-F5D3AC5367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B543389-0DB4-B04D-A40C-5BA66C81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fr-FR"/>
              <a:t>Modifier les styles du texte du masque
Deuxième niveau
Troisième niveau
Quatrième niveau
Cinquième niveau</a:t>
            </a:r>
          </a:p>
        </p:txBody>
      </p:sp>
      <p:sp>
        <p:nvSpPr>
          <p:cNvPr id="5" name="Espace réservé de la date 4">
            <a:extLst>
              <a:ext uri="{FF2B5EF4-FFF2-40B4-BE49-F238E27FC236}">
                <a16:creationId xmlns:a16="http://schemas.microsoft.com/office/drawing/2014/main" id="{CC860B11-3049-4542-A7C9-5952EEC84A2E}"/>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6" name="Espace réservé du pied de page 5">
            <a:extLst>
              <a:ext uri="{FF2B5EF4-FFF2-40B4-BE49-F238E27FC236}">
                <a16:creationId xmlns:a16="http://schemas.microsoft.com/office/drawing/2014/main" id="{BE76E697-C7F7-E143-8EDF-BE5379FD31C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4DC152A-07EE-4D45-A3D6-9B23FAFEF38A}"/>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53950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11DDB0-3EB1-C44C-A1DB-D80A9306A41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8DEB824-054B-FF42-BFB9-A84571C010B6}"/>
              </a:ext>
            </a:extLst>
          </p:cNvPr>
          <p:cNvSpPr>
            <a:spLocks noGrp="1"/>
          </p:cNvSpPr>
          <p:nvPr>
            <p:ph type="body" orient="vert" idx="1"/>
          </p:nvPr>
        </p:nvSpPr>
        <p:spPr/>
        <p:txBody>
          <a:bodyPr vert="eaVert"/>
          <a:lstStyle/>
          <a:p>
            <a:r>
              <a:rPr lang="fr-FR"/>
              <a:t>Modifier les styles du texte du masque
Deuxième niveau
Troisième niveau
Quatrième niveau
Cinquième niveau</a:t>
            </a:r>
          </a:p>
        </p:txBody>
      </p:sp>
      <p:sp>
        <p:nvSpPr>
          <p:cNvPr id="4" name="Espace réservé de la date 3">
            <a:extLst>
              <a:ext uri="{FF2B5EF4-FFF2-40B4-BE49-F238E27FC236}">
                <a16:creationId xmlns:a16="http://schemas.microsoft.com/office/drawing/2014/main" id="{D1B1CD19-8600-2F44-A136-57D49A25AA99}"/>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95605D3C-D199-024A-83CC-94FF972E6FC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79A640-2C4E-6348-8C9E-F42C85E794C3}"/>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71585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8F4BCE6-F81C-E64F-BD63-5E0301774E2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006B543-46FE-F44E-930D-87539461826C}"/>
              </a:ext>
            </a:extLst>
          </p:cNvPr>
          <p:cNvSpPr>
            <a:spLocks noGrp="1"/>
          </p:cNvSpPr>
          <p:nvPr>
            <p:ph type="body" orient="vert" idx="1"/>
          </p:nvPr>
        </p:nvSpPr>
        <p:spPr>
          <a:xfrm>
            <a:off x="838200" y="365125"/>
            <a:ext cx="7734300" cy="5811838"/>
          </a:xfrm>
        </p:spPr>
        <p:txBody>
          <a:bodyPr vert="eaVert"/>
          <a:lstStyle/>
          <a:p>
            <a:r>
              <a:rPr lang="fr-FR"/>
              <a:t>Modifier les styles du texte du masque
Deuxième niveau
Troisième niveau
Quatrième niveau
Cinquième niveau</a:t>
            </a:r>
          </a:p>
        </p:txBody>
      </p:sp>
      <p:sp>
        <p:nvSpPr>
          <p:cNvPr id="4" name="Espace réservé de la date 3">
            <a:extLst>
              <a:ext uri="{FF2B5EF4-FFF2-40B4-BE49-F238E27FC236}">
                <a16:creationId xmlns:a16="http://schemas.microsoft.com/office/drawing/2014/main" id="{691A036A-9B25-9340-94BB-91772355364E}"/>
              </a:ext>
            </a:extLst>
          </p:cNvPr>
          <p:cNvSpPr>
            <a:spLocks noGrp="1"/>
          </p:cNvSpPr>
          <p:nvPr>
            <p:ph type="dt" sz="half" idx="10"/>
          </p:nvPr>
        </p:nvSpPr>
        <p:spPr/>
        <p:txBody>
          <a:body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008E27A5-961F-C84A-AA57-142258D0994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3D25FD-B6AE-F042-ADFB-FD9283B66278}"/>
              </a:ext>
            </a:extLst>
          </p:cNvPr>
          <p:cNvSpPr>
            <a:spLocks noGrp="1"/>
          </p:cNvSpPr>
          <p:nvPr>
            <p:ph type="sldNum" sz="quarter" idx="12"/>
          </p:nvPr>
        </p:nvSpPr>
        <p:spPr/>
        <p:txBody>
          <a:bodyPr/>
          <a:lstStyle/>
          <a:p>
            <a:fld id="{31402C47-F2BC-234F-A806-6349BB03A8EC}" type="slidenum">
              <a:rPr lang="fr-FR" smtClean="0"/>
              <a:t>‹N°›</a:t>
            </a:fld>
            <a:endParaRPr lang="fr-FR"/>
          </a:p>
        </p:txBody>
      </p:sp>
    </p:spTree>
    <p:extLst>
      <p:ext uri="{BB962C8B-B14F-4D97-AF65-F5344CB8AC3E}">
        <p14:creationId xmlns:p14="http://schemas.microsoft.com/office/powerpoint/2010/main" val="1774022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4FBC23F-1CCB-EB45-AA5B-747627758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9D73225-66BF-754B-A9C9-EA1280F16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fr-FR"/>
              <a:t>Modifier les styles du texte du masque
Deuxième niveau
Troisième niveau
Quatrième niveau
Cinquième niveau</a:t>
            </a:r>
          </a:p>
        </p:txBody>
      </p:sp>
      <p:sp>
        <p:nvSpPr>
          <p:cNvPr id="4" name="Espace réservé de la date 3">
            <a:extLst>
              <a:ext uri="{FF2B5EF4-FFF2-40B4-BE49-F238E27FC236}">
                <a16:creationId xmlns:a16="http://schemas.microsoft.com/office/drawing/2014/main" id="{7CC8F027-F59D-A043-8995-1DC364DF2A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288FD7-6503-BA41-8035-C636079AD8A2}" type="datetimeFigureOut">
              <a:rPr lang="fr-FR" smtClean="0"/>
              <a:t>12/01/2024</a:t>
            </a:fld>
            <a:endParaRPr lang="fr-FR"/>
          </a:p>
        </p:txBody>
      </p:sp>
      <p:sp>
        <p:nvSpPr>
          <p:cNvPr id="5" name="Espace réservé du pied de page 4">
            <a:extLst>
              <a:ext uri="{FF2B5EF4-FFF2-40B4-BE49-F238E27FC236}">
                <a16:creationId xmlns:a16="http://schemas.microsoft.com/office/drawing/2014/main" id="{2CC81789-82B9-8E45-8053-7DA3025C50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13C6E54-09AF-F54D-8748-FA44B93C22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02C47-F2BC-234F-A806-6349BB03A8EC}" type="slidenum">
              <a:rPr lang="fr-FR" smtClean="0"/>
              <a:t>‹N°›</a:t>
            </a:fld>
            <a:endParaRPr lang="fr-FR"/>
          </a:p>
        </p:txBody>
      </p:sp>
    </p:spTree>
    <p:extLst>
      <p:ext uri="{BB962C8B-B14F-4D97-AF65-F5344CB8AC3E}">
        <p14:creationId xmlns:p14="http://schemas.microsoft.com/office/powerpoint/2010/main" val="444419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8669C28C-C144-0E47-B484-2D58F94CBFA7}"/>
              </a:ext>
            </a:extLst>
          </p:cNvPr>
          <p:cNvPicPr>
            <a:picLocks noChangeAspect="1"/>
          </p:cNvPicPr>
          <p:nvPr/>
        </p:nvPicPr>
        <p:blipFill>
          <a:blip r:embed="rId2"/>
          <a:stretch>
            <a:fillRect/>
          </a:stretch>
        </p:blipFill>
        <p:spPr>
          <a:xfrm>
            <a:off x="2528990" y="0"/>
            <a:ext cx="7134019" cy="6858000"/>
          </a:xfrm>
          <a:prstGeom prst="rect">
            <a:avLst/>
          </a:prstGeom>
        </p:spPr>
      </p:pic>
      <p:sp>
        <p:nvSpPr>
          <p:cNvPr id="7" name="ZoneTexte 6">
            <a:extLst>
              <a:ext uri="{FF2B5EF4-FFF2-40B4-BE49-F238E27FC236}">
                <a16:creationId xmlns:a16="http://schemas.microsoft.com/office/drawing/2014/main" id="{7A0126C2-8BE7-D444-B665-8783BA45FC56}"/>
              </a:ext>
            </a:extLst>
          </p:cNvPr>
          <p:cNvSpPr txBox="1"/>
          <p:nvPr/>
        </p:nvSpPr>
        <p:spPr>
          <a:xfrm>
            <a:off x="9702800" y="2984500"/>
            <a:ext cx="1391728" cy="646331"/>
          </a:xfrm>
          <a:prstGeom prst="rect">
            <a:avLst/>
          </a:prstGeom>
          <a:noFill/>
        </p:spPr>
        <p:txBody>
          <a:bodyPr wrap="none" rtlCol="0">
            <a:spAutoFit/>
          </a:bodyPr>
          <a:lstStyle/>
          <a:p>
            <a:r>
              <a:rPr lang="fr-FR" dirty="0"/>
              <a:t>5 </a:t>
            </a:r>
            <a:r>
              <a:rPr lang="fr-FR" dirty="0" err="1"/>
              <a:t>haplotypes</a:t>
            </a:r>
            <a:endParaRPr lang="fr-FR" dirty="0"/>
          </a:p>
          <a:p>
            <a:r>
              <a:rPr lang="fr-FR" dirty="0"/>
              <a:t>15 markers</a:t>
            </a:r>
          </a:p>
        </p:txBody>
      </p:sp>
      <p:sp>
        <p:nvSpPr>
          <p:cNvPr id="8" name="Rectangle 7">
            <a:extLst>
              <a:ext uri="{FF2B5EF4-FFF2-40B4-BE49-F238E27FC236}">
                <a16:creationId xmlns:a16="http://schemas.microsoft.com/office/drawing/2014/main" id="{5C7F9489-B7EA-324A-B4CF-7B944D4A045B}"/>
              </a:ext>
            </a:extLst>
          </p:cNvPr>
          <p:cNvSpPr/>
          <p:nvPr/>
        </p:nvSpPr>
        <p:spPr>
          <a:xfrm>
            <a:off x="173040" y="4120247"/>
            <a:ext cx="3276600" cy="1200329"/>
          </a:xfrm>
          <a:prstGeom prst="rect">
            <a:avLst/>
          </a:prstGeom>
        </p:spPr>
        <p:txBody>
          <a:bodyPr wrap="square">
            <a:spAutoFit/>
          </a:bodyPr>
          <a:lstStyle/>
          <a:p>
            <a:r>
              <a:rPr lang="fr-FR" dirty="0"/>
              <a:t>Les échelles de temps ont été définies comme la médiane d'une distribution géométrique exprimée en unités de temps </a:t>
            </a:r>
          </a:p>
        </p:txBody>
      </p:sp>
      <p:sp>
        <p:nvSpPr>
          <p:cNvPr id="9" name="ZoneTexte 8">
            <a:extLst>
              <a:ext uri="{FF2B5EF4-FFF2-40B4-BE49-F238E27FC236}">
                <a16:creationId xmlns:a16="http://schemas.microsoft.com/office/drawing/2014/main" id="{2A98D96A-9BA5-F849-BD3C-ADB8686C05B2}"/>
              </a:ext>
            </a:extLst>
          </p:cNvPr>
          <p:cNvSpPr txBox="1"/>
          <p:nvPr/>
        </p:nvSpPr>
        <p:spPr>
          <a:xfrm>
            <a:off x="10172700" y="485775"/>
            <a:ext cx="816249" cy="461665"/>
          </a:xfrm>
          <a:prstGeom prst="rect">
            <a:avLst/>
          </a:prstGeom>
          <a:noFill/>
        </p:spPr>
        <p:txBody>
          <a:bodyPr wrap="none" rtlCol="0">
            <a:spAutoFit/>
          </a:bodyPr>
          <a:lstStyle/>
          <a:p>
            <a:r>
              <a:rPr lang="fr-FR" sz="2400" b="1" dirty="0">
                <a:latin typeface="Arial" panose="020B0604020202020204" pitchFamily="34" charset="0"/>
                <a:cs typeface="Arial" panose="020B0604020202020204" pitchFamily="34" charset="0"/>
              </a:rPr>
              <a:t>Fig1</a:t>
            </a:r>
          </a:p>
        </p:txBody>
      </p:sp>
    </p:spTree>
    <p:extLst>
      <p:ext uri="{BB962C8B-B14F-4D97-AF65-F5344CB8AC3E}">
        <p14:creationId xmlns:p14="http://schemas.microsoft.com/office/powerpoint/2010/main" val="2098163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6C3F9E0-ADED-924C-B67A-7ABD4305728F}"/>
              </a:ext>
            </a:extLst>
          </p:cNvPr>
          <p:cNvSpPr/>
          <p:nvPr/>
        </p:nvSpPr>
        <p:spPr>
          <a:xfrm>
            <a:off x="304800" y="27561"/>
            <a:ext cx="11709400" cy="6740307"/>
          </a:xfrm>
          <a:prstGeom prst="rect">
            <a:avLst/>
          </a:prstGeom>
        </p:spPr>
        <p:txBody>
          <a:bodyPr wrap="square">
            <a:spAutoFit/>
          </a:bodyPr>
          <a:lstStyle/>
          <a:p>
            <a:r>
              <a:rPr lang="fr-FR" b="1" dirty="0"/>
              <a:t>Densité </a:t>
            </a:r>
            <a:r>
              <a:rPr lang="fr-FR" b="1" dirty="0" err="1"/>
              <a:t>haplotypique</a:t>
            </a:r>
            <a:r>
              <a:rPr lang="fr-FR" b="1" dirty="0"/>
              <a:t> échelonnée dans le temps</a:t>
            </a:r>
            <a:r>
              <a:rPr lang="fr-FR" dirty="0"/>
              <a:t>. </a:t>
            </a:r>
          </a:p>
          <a:p>
            <a:r>
              <a:rPr lang="fr-FR" dirty="0"/>
              <a:t>Les calculs de THD ont été illustrés à l'aide d'un ensemble synthétique de cinq </a:t>
            </a:r>
            <a:r>
              <a:rPr lang="fr-FR" dirty="0" err="1"/>
              <a:t>haplotypes</a:t>
            </a:r>
            <a:r>
              <a:rPr lang="fr-FR" dirty="0"/>
              <a:t> à 15 marqueurs (panneau B). </a:t>
            </a:r>
          </a:p>
          <a:p>
            <a:endParaRPr lang="fr-FR" dirty="0"/>
          </a:p>
          <a:p>
            <a:r>
              <a:rPr lang="fr-FR" dirty="0"/>
              <a:t>Les échelles de temps ont été définies comme la médiane d'une distribution géométrique exprimée en unités de temps (lignes pointillées dans le panneau B ; les unités de temps sont indiquées au-dessus de l'axe X), sur la base de la relation fonctionnelle entre la distance génétique et le temps écoulé jusqu'à l'ancêtre commun le plus récent (TMRCA ; voir les méthodes).</a:t>
            </a:r>
          </a:p>
          <a:p>
            <a:endParaRPr lang="fr-FR" dirty="0"/>
          </a:p>
          <a:p>
            <a:r>
              <a:rPr lang="fr-FR" dirty="0"/>
              <a:t> </a:t>
            </a:r>
            <a:r>
              <a:rPr lang="fr-FR" b="1" dirty="0"/>
              <a:t>Les distances génétiques par paire ont ensuite été associées à des probabilités dans le cadre de la distribution géométrique tronquée (panneau A)</a:t>
            </a:r>
            <a:r>
              <a:rPr lang="fr-FR" dirty="0"/>
              <a:t>. </a:t>
            </a:r>
            <a:r>
              <a:rPr lang="fr-FR" i="1" dirty="0"/>
              <a:t>Les probabilités diminuent avec la distance en fonction de l'échelle de temps, avec une diminution plus rapide en utilisant l'échelle de temps plus courte de 20 ans (courbe rouge) par rapport à l'échelle de temps de 100 ans (courbe bleue)</a:t>
            </a:r>
            <a:r>
              <a:rPr lang="fr-FR" dirty="0"/>
              <a:t>. </a:t>
            </a:r>
          </a:p>
          <a:p>
            <a:endParaRPr lang="fr-FR" b="1" dirty="0"/>
          </a:p>
          <a:p>
            <a:r>
              <a:rPr lang="fr-FR" b="1" dirty="0"/>
              <a:t>Pour chaque </a:t>
            </a:r>
            <a:r>
              <a:rPr lang="fr-FR" b="1" dirty="0" err="1"/>
              <a:t>haplotype</a:t>
            </a:r>
            <a:r>
              <a:rPr lang="fr-FR" b="1" dirty="0"/>
              <a:t>, le THD a été défini comme la moyenne des probabilités associées à la distance entre cet </a:t>
            </a:r>
            <a:r>
              <a:rPr lang="fr-FR" b="1" dirty="0" err="1"/>
              <a:t>haplotype</a:t>
            </a:r>
            <a:r>
              <a:rPr lang="fr-FR" b="1" dirty="0"/>
              <a:t> et les autres (panneau C</a:t>
            </a:r>
            <a:r>
              <a:rPr lang="fr-FR" dirty="0"/>
              <a:t>). </a:t>
            </a:r>
          </a:p>
          <a:p>
            <a:endParaRPr lang="fr-FR" dirty="0"/>
          </a:p>
          <a:p>
            <a:r>
              <a:rPr lang="fr-FR" dirty="0"/>
              <a:t>En utilisant une échelle de temps courte, les </a:t>
            </a:r>
            <a:r>
              <a:rPr lang="fr-FR" dirty="0" err="1"/>
              <a:t>haplotypes</a:t>
            </a:r>
            <a:r>
              <a:rPr lang="fr-FR" dirty="0"/>
              <a:t> A et B, qui ont des parents proches dans la population, ont un THD beaucoup plus élevé que l'</a:t>
            </a:r>
            <a:r>
              <a:rPr lang="fr-FR" dirty="0" err="1"/>
              <a:t>haplotype</a:t>
            </a:r>
            <a:r>
              <a:rPr lang="fr-FR" dirty="0"/>
              <a:t> C, qui n'a pas de parent proche (barres rouges). </a:t>
            </a:r>
          </a:p>
          <a:p>
            <a:endParaRPr lang="fr-FR" dirty="0"/>
          </a:p>
          <a:p>
            <a:r>
              <a:rPr lang="fr-FR" dirty="0"/>
              <a:t>En utilisant une échelle de temps plus longue, l'</a:t>
            </a:r>
            <a:r>
              <a:rPr lang="fr-FR" dirty="0" err="1"/>
              <a:t>haplotype</a:t>
            </a:r>
            <a:r>
              <a:rPr lang="fr-FR" dirty="0"/>
              <a:t> C avait un THD similaire à celui des </a:t>
            </a:r>
            <a:r>
              <a:rPr lang="fr-FR" dirty="0" err="1"/>
              <a:t>haplotypes</a:t>
            </a:r>
            <a:r>
              <a:rPr lang="fr-FR" dirty="0"/>
              <a:t> D et E parce que les densités de leurs clades respectifs étaient comparables par rapport à l'échelle de temps (barres bleues). </a:t>
            </a:r>
          </a:p>
          <a:p>
            <a:endParaRPr lang="fr-FR" dirty="0"/>
          </a:p>
          <a:p>
            <a:r>
              <a:rPr lang="fr-FR" dirty="0"/>
              <a:t>Remarquez la plus grande variance des estimations du THD avec une échelle de temps courte par rapport à l'échelle de temps plus grande.</a:t>
            </a:r>
          </a:p>
        </p:txBody>
      </p:sp>
    </p:spTree>
    <p:extLst>
      <p:ext uri="{BB962C8B-B14F-4D97-AF65-F5344CB8AC3E}">
        <p14:creationId xmlns:p14="http://schemas.microsoft.com/office/powerpoint/2010/main" val="3839910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04583A-C21A-7A4E-BA64-DDBADDB7BCFD}"/>
              </a:ext>
            </a:extLst>
          </p:cNvPr>
          <p:cNvSpPr/>
          <p:nvPr/>
        </p:nvSpPr>
        <p:spPr>
          <a:xfrm>
            <a:off x="214313" y="501762"/>
            <a:ext cx="11472862" cy="5632311"/>
          </a:xfrm>
          <a:prstGeom prst="rect">
            <a:avLst/>
          </a:prstGeom>
        </p:spPr>
        <p:txBody>
          <a:bodyPr wrap="square">
            <a:spAutoFit/>
          </a:bodyPr>
          <a:lstStyle/>
          <a:p>
            <a:r>
              <a:rPr lang="fr-FR" b="1" dirty="0">
                <a:solidFill>
                  <a:srgbClr val="000000"/>
                </a:solidFill>
                <a:effectLst/>
                <a:latin typeface="Minion Pro" panose="02040503050306020203" pitchFamily="18" charset="0"/>
              </a:rPr>
              <a:t>Figure 1. Time-</a:t>
            </a:r>
            <a:r>
              <a:rPr lang="fr-FR" b="1" dirty="0" err="1">
                <a:solidFill>
                  <a:srgbClr val="000000"/>
                </a:solidFill>
                <a:effectLst/>
                <a:latin typeface="Minion Pro" panose="02040503050306020203" pitchFamily="18" charset="0"/>
              </a:rPr>
              <a:t>scaled</a:t>
            </a:r>
            <a:r>
              <a:rPr lang="fr-FR" b="1" dirty="0">
                <a:solidFill>
                  <a:srgbClr val="000000"/>
                </a:solidFill>
                <a:effectLst/>
                <a:latin typeface="Minion Pro" panose="02040503050306020203" pitchFamily="18" charset="0"/>
              </a:rPr>
              <a:t> </a:t>
            </a:r>
            <a:r>
              <a:rPr lang="fr-FR" b="1" dirty="0" err="1">
                <a:solidFill>
                  <a:srgbClr val="000000"/>
                </a:solidFill>
                <a:effectLst/>
                <a:latin typeface="Minion Pro" panose="02040503050306020203" pitchFamily="18" charset="0"/>
              </a:rPr>
              <a:t>haplotypic</a:t>
            </a:r>
            <a:r>
              <a:rPr lang="fr-FR" b="1" dirty="0">
                <a:solidFill>
                  <a:srgbClr val="000000"/>
                </a:solidFill>
                <a:effectLst/>
                <a:latin typeface="Minion Pro" panose="02040503050306020203" pitchFamily="18" charset="0"/>
              </a:rPr>
              <a:t> </a:t>
            </a:r>
            <a:r>
              <a:rPr lang="fr-FR" b="1" dirty="0" err="1">
                <a:solidFill>
                  <a:srgbClr val="000000"/>
                </a:solidFill>
                <a:effectLst/>
                <a:latin typeface="Minion Pro" panose="02040503050306020203" pitchFamily="18" charset="0"/>
              </a:rPr>
              <a:t>density</a:t>
            </a:r>
            <a:r>
              <a:rPr lang="fr-FR" b="1" dirty="0">
                <a:solidFill>
                  <a:srgbClr val="000000"/>
                </a:solidFill>
                <a:effectLst/>
                <a:latin typeface="Minion Pro" panose="02040503050306020203" pitchFamily="18" charset="0"/>
              </a:rPr>
              <a:t>. </a:t>
            </a:r>
            <a:r>
              <a:rPr lang="fr-FR" dirty="0">
                <a:solidFill>
                  <a:srgbClr val="000000"/>
                </a:solidFill>
                <a:effectLst/>
                <a:latin typeface="Minion Pro" panose="02040503050306020203" pitchFamily="18" charset="0"/>
              </a:rPr>
              <a:t>THD computations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exemplified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synthetic</a:t>
            </a:r>
            <a:r>
              <a:rPr lang="fr-FR" dirty="0">
                <a:solidFill>
                  <a:srgbClr val="000000"/>
                </a:solidFill>
                <a:effectLst/>
                <a:latin typeface="Minion Pro" panose="02040503050306020203" pitchFamily="18" charset="0"/>
              </a:rPr>
              <a:t> set of</a:t>
            </a:r>
          </a:p>
          <a:p>
            <a:r>
              <a:rPr lang="fr-FR" dirty="0">
                <a:solidFill>
                  <a:srgbClr val="000000"/>
                </a:solidFill>
                <a:effectLst/>
                <a:latin typeface="Minion Pro" panose="02040503050306020203" pitchFamily="18" charset="0"/>
              </a:rPr>
              <a:t>five 15-marker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(panel B). </a:t>
            </a:r>
          </a:p>
          <a:p>
            <a:endParaRPr lang="fr-FR" dirty="0">
              <a:solidFill>
                <a:srgbClr val="000000"/>
              </a:solidFill>
              <a:latin typeface="Minion Pro" panose="02040503050306020203" pitchFamily="18" charset="0"/>
            </a:endParaRPr>
          </a:p>
          <a:p>
            <a:r>
              <a:rPr lang="fr-FR" dirty="0">
                <a:solidFill>
                  <a:srgbClr val="000000"/>
                </a:solidFill>
                <a:effectLst/>
                <a:latin typeface="Minion Pro" panose="02040503050306020203" pitchFamily="18" charset="0"/>
              </a:rPr>
              <a:t>The </a:t>
            </a:r>
            <a:r>
              <a:rPr lang="fr-FR" dirty="0" err="1">
                <a:solidFill>
                  <a:srgbClr val="000000"/>
                </a:solidFill>
                <a:effectLst/>
                <a:latin typeface="Minion Pro" panose="02040503050306020203" pitchFamily="18" charset="0"/>
              </a:rPr>
              <a:t>timescales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defined</a:t>
            </a:r>
            <a:r>
              <a:rPr lang="fr-FR" dirty="0">
                <a:solidFill>
                  <a:srgbClr val="000000"/>
                </a:solidFill>
                <a:effectLst/>
                <a:latin typeface="Minion Pro" panose="02040503050306020203" pitchFamily="18" charset="0"/>
              </a:rPr>
              <a:t> as the </a:t>
            </a:r>
            <a:r>
              <a:rPr lang="fr-FR" dirty="0" err="1">
                <a:solidFill>
                  <a:srgbClr val="000000"/>
                </a:solidFill>
                <a:effectLst/>
                <a:latin typeface="Minion Pro" panose="02040503050306020203" pitchFamily="18" charset="0"/>
              </a:rPr>
              <a:t>median</a:t>
            </a:r>
            <a:r>
              <a:rPr lang="fr-FR" dirty="0">
                <a:solidFill>
                  <a:srgbClr val="000000"/>
                </a:solidFill>
                <a:effectLst/>
                <a:latin typeface="Minion Pro" panose="02040503050306020203" pitchFamily="18" charset="0"/>
              </a:rPr>
              <a:t> of a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a:t>
            </a:r>
            <a:r>
              <a:rPr lang="fr-FR" dirty="0" err="1">
                <a:solidFill>
                  <a:srgbClr val="000000"/>
                </a:solidFill>
                <a:effectLst/>
                <a:latin typeface="Minion Pro" panose="02040503050306020203" pitchFamily="18" charset="0"/>
              </a:rPr>
              <a:t>expressed</a:t>
            </a:r>
            <a:r>
              <a:rPr lang="fr-FR" dirty="0">
                <a:solidFill>
                  <a:srgbClr val="000000"/>
                </a:solidFill>
                <a:effectLst/>
                <a:latin typeface="Minion Pro" panose="02040503050306020203" pitchFamily="18" charset="0"/>
              </a:rPr>
              <a:t> in </a:t>
            </a:r>
            <a:r>
              <a:rPr lang="fr-FR" dirty="0" err="1">
                <a:solidFill>
                  <a:srgbClr val="000000"/>
                </a:solidFill>
                <a:effectLst/>
                <a:latin typeface="Minion Pro" panose="02040503050306020203" pitchFamily="18" charset="0"/>
              </a:rPr>
              <a:t>units</a:t>
            </a:r>
            <a:r>
              <a:rPr lang="fr-FR" dirty="0">
                <a:solidFill>
                  <a:srgbClr val="000000"/>
                </a:solidFill>
                <a:effectLst/>
                <a:latin typeface="Minion Pro" panose="02040503050306020203" pitchFamily="18" charset="0"/>
              </a:rPr>
              <a:t> of time (</a:t>
            </a:r>
            <a:r>
              <a:rPr lang="fr-FR" dirty="0" err="1">
                <a:solidFill>
                  <a:srgbClr val="000000"/>
                </a:solidFill>
                <a:effectLst/>
                <a:latin typeface="Minion Pro" panose="02040503050306020203" pitchFamily="18" charset="0"/>
              </a:rPr>
              <a:t>dashed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lines</a:t>
            </a:r>
            <a:r>
              <a:rPr lang="fr-FR" dirty="0">
                <a:solidFill>
                  <a:srgbClr val="000000"/>
                </a:solidFill>
                <a:effectLst/>
                <a:latin typeface="Minion Pro" panose="02040503050306020203" pitchFamily="18" charset="0"/>
              </a:rPr>
              <a:t> in panel B; time </a:t>
            </a:r>
            <a:r>
              <a:rPr lang="fr-FR" dirty="0" err="1">
                <a:solidFill>
                  <a:srgbClr val="000000"/>
                </a:solidFill>
                <a:effectLst/>
                <a:latin typeface="Minion Pro" panose="02040503050306020203" pitchFamily="18" charset="0"/>
              </a:rPr>
              <a:t>units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indicated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above</a:t>
            </a:r>
            <a:r>
              <a:rPr lang="fr-FR" dirty="0">
                <a:solidFill>
                  <a:srgbClr val="000000"/>
                </a:solidFill>
                <a:effectLst/>
                <a:latin typeface="Minion Pro" panose="02040503050306020203" pitchFamily="18" charset="0"/>
              </a:rPr>
              <a:t> the X axis), </a:t>
            </a:r>
            <a:r>
              <a:rPr lang="fr-FR" dirty="0" err="1">
                <a:solidFill>
                  <a:srgbClr val="000000"/>
                </a:solidFill>
                <a:effectLst/>
                <a:latin typeface="Minion Pro" panose="02040503050306020203" pitchFamily="18" charset="0"/>
              </a:rPr>
              <a:t>based</a:t>
            </a:r>
            <a:r>
              <a:rPr lang="fr-FR" dirty="0">
                <a:solidFill>
                  <a:srgbClr val="000000"/>
                </a:solidFill>
                <a:effectLst/>
                <a:latin typeface="Minion Pro" panose="02040503050306020203" pitchFamily="18" charset="0"/>
              </a:rPr>
              <a:t> on the </a:t>
            </a:r>
            <a:r>
              <a:rPr lang="fr-FR" dirty="0" err="1">
                <a:solidFill>
                  <a:srgbClr val="000000"/>
                </a:solidFill>
                <a:effectLst/>
                <a:latin typeface="Minion Pro" panose="02040503050306020203" pitchFamily="18" charset="0"/>
              </a:rPr>
              <a:t>functional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relationship</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distance and the time to the </a:t>
            </a:r>
            <a:r>
              <a:rPr lang="fr-FR" dirty="0" err="1">
                <a:solidFill>
                  <a:srgbClr val="000000"/>
                </a:solidFill>
                <a:effectLst/>
                <a:latin typeface="Minion Pro" panose="02040503050306020203" pitchFamily="18" charset="0"/>
              </a:rPr>
              <a:t>most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recent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common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ancestor</a:t>
            </a:r>
            <a:r>
              <a:rPr lang="fr-FR" dirty="0">
                <a:solidFill>
                  <a:srgbClr val="000000"/>
                </a:solidFill>
                <a:effectLst/>
                <a:latin typeface="Minion Pro" panose="02040503050306020203" pitchFamily="18" charset="0"/>
              </a:rPr>
              <a:t> (TMRCA; </a:t>
            </a:r>
            <a:r>
              <a:rPr lang="fr-FR" dirty="0" err="1">
                <a:solidFill>
                  <a:srgbClr val="000000"/>
                </a:solidFill>
                <a:effectLst/>
                <a:latin typeface="Minion Pro" panose="02040503050306020203" pitchFamily="18" charset="0"/>
              </a:rPr>
              <a:t>see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Methods</a:t>
            </a:r>
            <a:r>
              <a:rPr lang="fr-FR" dirty="0">
                <a:solidFill>
                  <a:srgbClr val="000000"/>
                </a:solidFill>
                <a:effectLst/>
                <a:latin typeface="Minion Pro" panose="02040503050306020203" pitchFamily="18" charset="0"/>
              </a:rPr>
              <a:t>). </a:t>
            </a:r>
          </a:p>
          <a:p>
            <a:endParaRPr lang="fr-FR" dirty="0">
              <a:solidFill>
                <a:srgbClr val="000000"/>
              </a:solidFill>
              <a:latin typeface="Minion Pro" panose="02040503050306020203" pitchFamily="18" charset="0"/>
            </a:endParaRPr>
          </a:p>
          <a:p>
            <a:r>
              <a:rPr lang="fr-FR" dirty="0" err="1">
                <a:solidFill>
                  <a:srgbClr val="000000"/>
                </a:solidFill>
                <a:effectLst/>
                <a:latin typeface="Minion Pro" panose="02040503050306020203" pitchFamily="18" charset="0"/>
              </a:rPr>
              <a:t>Pairwise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distances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then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associated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probabilities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under</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truncated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(panel A). </a:t>
            </a:r>
            <a:r>
              <a:rPr lang="fr-FR" dirty="0" err="1">
                <a:solidFill>
                  <a:srgbClr val="000000"/>
                </a:solidFill>
                <a:effectLst/>
                <a:latin typeface="Minion Pro" panose="02040503050306020203" pitchFamily="18" charset="0"/>
              </a:rPr>
              <a:t>Probabilities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decreased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the distance in a </a:t>
            </a:r>
            <a:r>
              <a:rPr lang="fr-FR" dirty="0" err="1">
                <a:solidFill>
                  <a:srgbClr val="000000"/>
                </a:solidFill>
                <a:effectLst/>
                <a:latin typeface="Minion Pro" panose="02040503050306020203" pitchFamily="18" charset="0"/>
              </a:rPr>
              <a:t>timescale-dependent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fashion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faster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decrease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shorter</a:t>
            </a:r>
            <a:r>
              <a:rPr lang="fr-FR" dirty="0">
                <a:solidFill>
                  <a:srgbClr val="000000"/>
                </a:solidFill>
                <a:effectLst/>
                <a:latin typeface="Minion Pro" panose="02040503050306020203" pitchFamily="18" charset="0"/>
              </a:rPr>
              <a:t> 20y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curve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compared</a:t>
            </a:r>
            <a:r>
              <a:rPr lang="fr-FR" dirty="0">
                <a:solidFill>
                  <a:srgbClr val="000000"/>
                </a:solidFill>
                <a:effectLst/>
                <a:latin typeface="Minion Pro" panose="02040503050306020203" pitchFamily="18" charset="0"/>
              </a:rPr>
              <a:t> to the 100y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blue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curve</a:t>
            </a:r>
            <a:r>
              <a:rPr lang="fr-FR" dirty="0">
                <a:solidFill>
                  <a:srgbClr val="000000"/>
                </a:solidFill>
                <a:effectLst/>
                <a:latin typeface="Minion Pro" panose="02040503050306020203" pitchFamily="18" charset="0"/>
              </a:rPr>
              <a:t>). </a:t>
            </a:r>
          </a:p>
          <a:p>
            <a:endParaRPr lang="fr-FR" dirty="0">
              <a:solidFill>
                <a:srgbClr val="000000"/>
              </a:solidFill>
              <a:latin typeface="Minion Pro" panose="02040503050306020203" pitchFamily="18" charset="0"/>
            </a:endParaRPr>
          </a:p>
          <a:p>
            <a:r>
              <a:rPr lang="fr-FR" dirty="0">
                <a:solidFill>
                  <a:srgbClr val="000000"/>
                </a:solidFill>
                <a:effectLst/>
                <a:latin typeface="Minion Pro" panose="02040503050306020203" pitchFamily="18" charset="0"/>
              </a:rPr>
              <a:t>For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THD </a:t>
            </a:r>
            <a:r>
              <a:rPr lang="fr-FR" dirty="0" err="1">
                <a:solidFill>
                  <a:srgbClr val="000000"/>
                </a:solidFill>
                <a:effectLst/>
                <a:latin typeface="Minion Pro" panose="02040503050306020203" pitchFamily="18" charset="0"/>
              </a:rPr>
              <a:t>was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defined</a:t>
            </a:r>
            <a:r>
              <a:rPr lang="fr-FR" dirty="0">
                <a:solidFill>
                  <a:srgbClr val="000000"/>
                </a:solidFill>
                <a:effectLst/>
                <a:latin typeface="Minion Pro" panose="02040503050306020203" pitchFamily="18" charset="0"/>
              </a:rPr>
              <a:t> as the </a:t>
            </a:r>
            <a:r>
              <a:rPr lang="fr-FR" dirty="0" err="1">
                <a:solidFill>
                  <a:srgbClr val="000000"/>
                </a:solidFill>
                <a:effectLst/>
                <a:latin typeface="Minion Pro" panose="02040503050306020203" pitchFamily="18" charset="0"/>
              </a:rPr>
              <a:t>average</a:t>
            </a:r>
            <a:r>
              <a:rPr lang="fr-FR" dirty="0">
                <a:solidFill>
                  <a:srgbClr val="000000"/>
                </a:solidFill>
                <a:effectLst/>
                <a:latin typeface="Minion Pro" panose="02040503050306020203" pitchFamily="18" charset="0"/>
              </a:rPr>
              <a:t> of the </a:t>
            </a:r>
            <a:r>
              <a:rPr lang="fr-FR" dirty="0" err="1">
                <a:solidFill>
                  <a:srgbClr val="000000"/>
                </a:solidFill>
                <a:effectLst/>
                <a:latin typeface="Minion Pro" panose="02040503050306020203" pitchFamily="18" charset="0"/>
              </a:rPr>
              <a:t>probabilities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associated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the distance </a:t>
            </a:r>
            <a:r>
              <a:rPr lang="fr-FR" dirty="0" err="1">
                <a:solidFill>
                  <a:srgbClr val="000000"/>
                </a:solidFill>
                <a:effectLst/>
                <a:latin typeface="Minion Pro" panose="02040503050306020203" pitchFamily="18" charset="0"/>
              </a:rPr>
              <a:t>from</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to the </a:t>
            </a:r>
            <a:r>
              <a:rPr lang="fr-FR" dirty="0" err="1">
                <a:solidFill>
                  <a:srgbClr val="000000"/>
                </a:solidFill>
                <a:effectLst/>
                <a:latin typeface="Minion Pro" panose="02040503050306020203" pitchFamily="18" charset="0"/>
              </a:rPr>
              <a:t>others</a:t>
            </a:r>
            <a:r>
              <a:rPr lang="fr-FR" dirty="0">
                <a:solidFill>
                  <a:srgbClr val="000000"/>
                </a:solidFill>
                <a:effectLst/>
                <a:latin typeface="Minion Pro" panose="02040503050306020203" pitchFamily="18" charset="0"/>
              </a:rPr>
              <a:t> (panel C). </a:t>
            </a:r>
          </a:p>
          <a:p>
            <a:endParaRPr lang="fr-FR" dirty="0">
              <a:solidFill>
                <a:srgbClr val="000000"/>
              </a:solidFill>
              <a:latin typeface="Minion Pro" panose="02040503050306020203" pitchFamily="18" charset="0"/>
            </a:endParaRPr>
          </a:p>
          <a:p>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a short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A and B,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have close relatives in the population, </a:t>
            </a:r>
            <a:r>
              <a:rPr lang="fr-FR" dirty="0" err="1">
                <a:solidFill>
                  <a:srgbClr val="000000"/>
                </a:solidFill>
                <a:effectLst/>
                <a:latin typeface="Minion Pro" panose="02040503050306020203" pitchFamily="18" charset="0"/>
              </a:rPr>
              <a:t>had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much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larger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THDs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compared</a:t>
            </a:r>
            <a:r>
              <a:rPr lang="fr-FR" dirty="0">
                <a:solidFill>
                  <a:srgbClr val="000000"/>
                </a:solidFill>
                <a:effectLst/>
                <a:latin typeface="Minion Pro" panose="02040503050306020203" pitchFamily="18" charset="0"/>
              </a:rPr>
              <a:t> to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C,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has no close relative (</a:t>
            </a:r>
            <a:r>
              <a:rPr lang="fr-FR" dirty="0" err="1">
                <a:solidFill>
                  <a:srgbClr val="000000"/>
                </a:solidFill>
                <a:effectLst/>
                <a:latin typeface="Minion Pro" panose="02040503050306020203" pitchFamily="18" charset="0"/>
              </a:rPr>
              <a:t>red</a:t>
            </a:r>
            <a:r>
              <a:rPr lang="fr-FR" dirty="0">
                <a:solidFill>
                  <a:srgbClr val="000000"/>
                </a:solidFill>
                <a:effectLst/>
                <a:latin typeface="Minion Pro" panose="02040503050306020203" pitchFamily="18" charset="0"/>
              </a:rPr>
              <a:t> bars).</a:t>
            </a:r>
          </a:p>
          <a:p>
            <a:endParaRPr lang="fr-FR" dirty="0">
              <a:solidFill>
                <a:srgbClr val="000000"/>
              </a:solidFill>
              <a:latin typeface="Minion Pro" panose="02040503050306020203" pitchFamily="18" charset="0"/>
            </a:endParaRPr>
          </a:p>
          <a:p>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a longer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C </a:t>
            </a:r>
            <a:r>
              <a:rPr lang="fr-FR" dirty="0" err="1">
                <a:solidFill>
                  <a:srgbClr val="000000"/>
                </a:solidFill>
                <a:effectLst/>
                <a:latin typeface="Minion Pro" panose="02040503050306020203" pitchFamily="18" charset="0"/>
              </a:rPr>
              <a:t>had</a:t>
            </a:r>
            <a:r>
              <a:rPr lang="fr-FR" dirty="0">
                <a:solidFill>
                  <a:srgbClr val="000000"/>
                </a:solidFill>
                <a:effectLst/>
                <a:latin typeface="Minion Pro" panose="02040503050306020203" pitchFamily="18" charset="0"/>
              </a:rPr>
              <a:t> a THD </a:t>
            </a:r>
            <a:r>
              <a:rPr lang="fr-FR" dirty="0" err="1">
                <a:solidFill>
                  <a:srgbClr val="000000"/>
                </a:solidFill>
                <a:effectLst/>
                <a:latin typeface="Minion Pro" panose="02040503050306020203" pitchFamily="18" charset="0"/>
              </a:rPr>
              <a:t>similar</a:t>
            </a:r>
            <a:r>
              <a:rPr lang="fr-FR" dirty="0">
                <a:solidFill>
                  <a:srgbClr val="000000"/>
                </a:solidFill>
                <a:effectLst/>
                <a:latin typeface="Minion Pro" panose="02040503050306020203" pitchFamily="18" charset="0"/>
              </a:rPr>
              <a:t> to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D and E </a:t>
            </a:r>
            <a:r>
              <a:rPr lang="fr-FR" dirty="0" err="1">
                <a:solidFill>
                  <a:srgbClr val="000000"/>
                </a:solidFill>
                <a:effectLst/>
                <a:latin typeface="Minion Pro" panose="02040503050306020203" pitchFamily="18" charset="0"/>
              </a:rPr>
              <a:t>because</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densities</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their</a:t>
            </a:r>
            <a:r>
              <a:rPr lang="fr-FR" dirty="0">
                <a:solidFill>
                  <a:srgbClr val="000000"/>
                </a:solidFill>
                <a:effectLst/>
                <a:latin typeface="Minion Pro" panose="02040503050306020203" pitchFamily="18" charset="0"/>
              </a:rPr>
              <a:t> respective clades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comparable relative to the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blue</a:t>
            </a:r>
            <a:r>
              <a:rPr lang="fr-FR" dirty="0">
                <a:solidFill>
                  <a:srgbClr val="000000"/>
                </a:solidFill>
                <a:effectLst/>
                <a:latin typeface="Minion Pro" panose="02040503050306020203" pitchFamily="18" charset="0"/>
              </a:rPr>
              <a:t> bars). </a:t>
            </a:r>
            <a:r>
              <a:rPr lang="fr-FR" dirty="0" err="1">
                <a:solidFill>
                  <a:srgbClr val="000000"/>
                </a:solidFill>
                <a:effectLst/>
                <a:latin typeface="Minion Pro" panose="02040503050306020203" pitchFamily="18" charset="0"/>
              </a:rPr>
              <a:t>Remark</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larger</a:t>
            </a:r>
            <a:r>
              <a:rPr lang="fr-FR" dirty="0">
                <a:solidFill>
                  <a:srgbClr val="000000"/>
                </a:solidFill>
                <a:effectLst/>
                <a:latin typeface="Minion Pro" panose="02040503050306020203" pitchFamily="18" charset="0"/>
              </a:rPr>
              <a:t> variance of the THD </a:t>
            </a:r>
            <a:r>
              <a:rPr lang="fr-FR" dirty="0" err="1">
                <a:solidFill>
                  <a:srgbClr val="000000"/>
                </a:solidFill>
                <a:effectLst/>
                <a:latin typeface="Minion Pro" panose="02040503050306020203" pitchFamily="18" charset="0"/>
              </a:rPr>
              <a:t>estimates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short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compared</a:t>
            </a:r>
            <a:r>
              <a:rPr lang="fr-FR" dirty="0">
                <a:solidFill>
                  <a:srgbClr val="000000"/>
                </a:solidFill>
                <a:effectLst/>
                <a:latin typeface="Minion Pro" panose="02040503050306020203" pitchFamily="18" charset="0"/>
              </a:rPr>
              <a:t> to the </a:t>
            </a:r>
            <a:r>
              <a:rPr lang="fr-FR" dirty="0" err="1">
                <a:solidFill>
                  <a:srgbClr val="000000"/>
                </a:solidFill>
                <a:effectLst/>
                <a:latin typeface="Minion Pro" panose="02040503050306020203" pitchFamily="18" charset="0"/>
              </a:rPr>
              <a:t>larger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a:t>
            </a:r>
          </a:p>
        </p:txBody>
      </p:sp>
    </p:spTree>
    <p:extLst>
      <p:ext uri="{BB962C8B-B14F-4D97-AF65-F5344CB8AC3E}">
        <p14:creationId xmlns:p14="http://schemas.microsoft.com/office/powerpoint/2010/main" val="278600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9D36CB9-E34F-8848-AF95-F8DA0FC30079}"/>
              </a:ext>
            </a:extLst>
          </p:cNvPr>
          <p:cNvPicPr>
            <a:picLocks noChangeAspect="1"/>
          </p:cNvPicPr>
          <p:nvPr/>
        </p:nvPicPr>
        <p:blipFill>
          <a:blip r:embed="rId2"/>
          <a:stretch>
            <a:fillRect/>
          </a:stretch>
        </p:blipFill>
        <p:spPr>
          <a:xfrm>
            <a:off x="603250" y="787400"/>
            <a:ext cx="10985500" cy="5283200"/>
          </a:xfrm>
          <a:prstGeom prst="rect">
            <a:avLst/>
          </a:prstGeom>
        </p:spPr>
      </p:pic>
      <p:sp>
        <p:nvSpPr>
          <p:cNvPr id="6" name="Rectangle 5">
            <a:extLst>
              <a:ext uri="{FF2B5EF4-FFF2-40B4-BE49-F238E27FC236}">
                <a16:creationId xmlns:a16="http://schemas.microsoft.com/office/drawing/2014/main" id="{8816A8B3-1822-1A45-88BA-69DB173675B3}"/>
              </a:ext>
            </a:extLst>
          </p:cNvPr>
          <p:cNvSpPr/>
          <p:nvPr/>
        </p:nvSpPr>
        <p:spPr>
          <a:xfrm>
            <a:off x="10838492" y="301101"/>
            <a:ext cx="659155" cy="369332"/>
          </a:xfrm>
          <a:prstGeom prst="rect">
            <a:avLst/>
          </a:prstGeom>
        </p:spPr>
        <p:txBody>
          <a:bodyPr wrap="none">
            <a:spAutoFit/>
          </a:bodyPr>
          <a:lstStyle/>
          <a:p>
            <a:r>
              <a:rPr lang="fr-FR" b="1" dirty="0">
                <a:latin typeface="Arial" panose="020B0604020202020204" pitchFamily="34" charset="0"/>
                <a:cs typeface="Arial" panose="020B0604020202020204" pitchFamily="34" charset="0"/>
              </a:rPr>
              <a:t>Fig2</a:t>
            </a:r>
          </a:p>
        </p:txBody>
      </p:sp>
    </p:spTree>
    <p:extLst>
      <p:ext uri="{BB962C8B-B14F-4D97-AF65-F5344CB8AC3E}">
        <p14:creationId xmlns:p14="http://schemas.microsoft.com/office/powerpoint/2010/main" val="399560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1E34D-B694-254B-84F3-1CB12D755AB7}"/>
              </a:ext>
            </a:extLst>
          </p:cNvPr>
          <p:cNvSpPr/>
          <p:nvPr/>
        </p:nvSpPr>
        <p:spPr>
          <a:xfrm>
            <a:off x="200022" y="488892"/>
            <a:ext cx="11930063" cy="1200329"/>
          </a:xfrm>
          <a:prstGeom prst="rect">
            <a:avLst/>
          </a:prstGeom>
        </p:spPr>
        <p:txBody>
          <a:bodyPr wrap="square">
            <a:spAutoFit/>
          </a:bodyPr>
          <a:lstStyle/>
          <a:p>
            <a:r>
              <a:rPr lang="fr-FR" b="1" dirty="0">
                <a:solidFill>
                  <a:srgbClr val="000000"/>
                </a:solidFill>
                <a:effectLst/>
                <a:latin typeface="Minion Pro" panose="02040503050306020203" pitchFamily="18" charset="0"/>
              </a:rPr>
              <a:t>Figure 2. </a:t>
            </a:r>
            <a:r>
              <a:rPr lang="fr-FR" b="1" dirty="0" err="1">
                <a:solidFill>
                  <a:srgbClr val="000000"/>
                </a:solidFill>
                <a:effectLst/>
                <a:latin typeface="Minion Pro" panose="02040503050306020203" pitchFamily="18" charset="0"/>
              </a:rPr>
              <a:t>Timescaled</a:t>
            </a:r>
            <a:r>
              <a:rPr lang="fr-FR" b="1" dirty="0">
                <a:solidFill>
                  <a:srgbClr val="000000"/>
                </a:solidFill>
                <a:effectLst/>
                <a:latin typeface="Minion Pro" panose="02040503050306020203" pitchFamily="18" charset="0"/>
              </a:rPr>
              <a:t> </a:t>
            </a:r>
            <a:r>
              <a:rPr lang="fr-FR" b="1" dirty="0" err="1">
                <a:solidFill>
                  <a:srgbClr val="000000"/>
                </a:solidFill>
                <a:effectLst/>
                <a:latin typeface="Minion Pro" panose="02040503050306020203" pitchFamily="18" charset="0"/>
              </a:rPr>
              <a:t>haplotypic</a:t>
            </a:r>
            <a:r>
              <a:rPr lang="fr-FR" b="1" dirty="0">
                <a:solidFill>
                  <a:srgbClr val="000000"/>
                </a:solidFill>
                <a:effectLst/>
                <a:latin typeface="Minion Pro" panose="02040503050306020203" pitchFamily="18" charset="0"/>
              </a:rPr>
              <a:t> </a:t>
            </a:r>
            <a:r>
              <a:rPr lang="fr-FR" b="1" dirty="0" err="1">
                <a:solidFill>
                  <a:srgbClr val="000000"/>
                </a:solidFill>
                <a:effectLst/>
                <a:latin typeface="Minion Pro" panose="02040503050306020203" pitchFamily="18" charset="0"/>
              </a:rPr>
              <a:t>density</a:t>
            </a:r>
            <a:r>
              <a:rPr lang="fr-FR" b="1" dirty="0">
                <a:solidFill>
                  <a:srgbClr val="000000"/>
                </a:solidFill>
                <a:effectLst/>
                <a:latin typeface="Minion Pro" panose="02040503050306020203" pitchFamily="18" charset="0"/>
              </a:rPr>
              <a:t> (THD) of </a:t>
            </a:r>
            <a:r>
              <a:rPr lang="fr-FR" b="1" dirty="0" err="1">
                <a:solidFill>
                  <a:srgbClr val="000000"/>
                </a:solidFill>
                <a:effectLst/>
                <a:latin typeface="Minion Pro" panose="02040503050306020203" pitchFamily="18" charset="0"/>
              </a:rPr>
              <a:t>simulated</a:t>
            </a:r>
            <a:r>
              <a:rPr lang="fr-FR" b="1" dirty="0">
                <a:solidFill>
                  <a:srgbClr val="000000"/>
                </a:solidFill>
                <a:effectLst/>
                <a:latin typeface="Minion Pro" panose="02040503050306020203" pitchFamily="18" charset="0"/>
              </a:rPr>
              <a:t> constant-size and </a:t>
            </a:r>
            <a:r>
              <a:rPr lang="fr-FR" b="1" dirty="0" err="1">
                <a:solidFill>
                  <a:srgbClr val="000000"/>
                </a:solidFill>
                <a:effectLst/>
                <a:latin typeface="Minion Pro" panose="02040503050306020203" pitchFamily="18" charset="0"/>
              </a:rPr>
              <a:t>expanding</a:t>
            </a:r>
            <a:r>
              <a:rPr lang="fr-FR" b="1" dirty="0">
                <a:solidFill>
                  <a:srgbClr val="000000"/>
                </a:solidFill>
                <a:effectLst/>
                <a:latin typeface="Minion Pro" panose="02040503050306020203" pitchFamily="18" charset="0"/>
              </a:rPr>
              <a:t> populations.</a:t>
            </a:r>
            <a:endParaRPr lang="fr-FR" dirty="0">
              <a:solidFill>
                <a:srgbClr val="000000"/>
              </a:solidFill>
              <a:effectLst/>
              <a:latin typeface="Minion Pro" panose="02040503050306020203" pitchFamily="18" charset="0"/>
            </a:endParaRPr>
          </a:p>
          <a:p>
            <a:r>
              <a:rPr lang="fr-FR" dirty="0">
                <a:solidFill>
                  <a:srgbClr val="000000"/>
                </a:solidFill>
                <a:effectLst/>
                <a:latin typeface="Minion Pro" panose="02040503050306020203" pitchFamily="18" charset="0"/>
              </a:rPr>
              <a:t>Markers </a:t>
            </a:r>
            <a:r>
              <a:rPr lang="fr-FR" dirty="0" err="1">
                <a:solidFill>
                  <a:srgbClr val="000000"/>
                </a:solidFill>
                <a:effectLst/>
                <a:latin typeface="Minion Pro" panose="02040503050306020203" pitchFamily="18" charset="0"/>
              </a:rPr>
              <a:t>represent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scaled</a:t>
            </a:r>
            <a:r>
              <a:rPr lang="fr-FR" dirty="0">
                <a:solidFill>
                  <a:srgbClr val="000000"/>
                </a:solidFill>
                <a:effectLst/>
                <a:latin typeface="Minion Pro" panose="02040503050306020203" pitchFamily="18" charset="0"/>
              </a:rPr>
              <a:t> THD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means</a:t>
            </a:r>
            <a:r>
              <a:rPr lang="fr-FR" dirty="0">
                <a:solidFill>
                  <a:srgbClr val="000000"/>
                </a:solidFill>
                <a:effectLst/>
                <a:latin typeface="Minion Pro" panose="02040503050306020203" pitchFamily="18" charset="0"/>
              </a:rPr>
              <a:t> for 1,000 </a:t>
            </a:r>
            <a:r>
              <a:rPr lang="fr-FR" dirty="0" err="1">
                <a:solidFill>
                  <a:srgbClr val="000000"/>
                </a:solidFill>
                <a:effectLst/>
                <a:latin typeface="Minion Pro" panose="02040503050306020203" pitchFamily="18" charset="0"/>
              </a:rPr>
              <a:t>simulated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metapopulations</a:t>
            </a:r>
            <a:r>
              <a:rPr lang="fr-FR" dirty="0">
                <a:solidFill>
                  <a:srgbClr val="000000"/>
                </a:solidFill>
                <a:effectLst/>
                <a:latin typeface="Minion Pro" panose="02040503050306020203" pitchFamily="18" charset="0"/>
              </a:rPr>
              <a:t> per panel,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comprising</a:t>
            </a:r>
            <a:r>
              <a:rPr lang="fr-FR" dirty="0">
                <a:solidFill>
                  <a:srgbClr val="000000"/>
                </a:solidFill>
                <a:effectLst/>
                <a:latin typeface="Minion Pro" panose="02040503050306020203" pitchFamily="18" charset="0"/>
              </a:rPr>
              <a:t> of a basal population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constant effective size (</a:t>
            </a:r>
            <a:r>
              <a:rPr lang="fr-FR" dirty="0" err="1">
                <a:solidFill>
                  <a:srgbClr val="000000"/>
                </a:solidFill>
                <a:effectLst/>
                <a:latin typeface="Minion Pro" panose="02040503050306020203" pitchFamily="18" charset="0"/>
              </a:rPr>
              <a:t>blue</a:t>
            </a:r>
            <a:r>
              <a:rPr lang="fr-FR" dirty="0">
                <a:solidFill>
                  <a:srgbClr val="000000"/>
                </a:solidFill>
                <a:effectLst/>
                <a:latin typeface="Minion Pro" panose="02040503050306020203" pitchFamily="18" charset="0"/>
              </a:rPr>
              <a:t>) and an </a:t>
            </a:r>
            <a:r>
              <a:rPr lang="fr-FR" dirty="0" err="1">
                <a:solidFill>
                  <a:srgbClr val="000000"/>
                </a:solidFill>
                <a:effectLst/>
                <a:latin typeface="Minion Pro" panose="02040503050306020203" pitchFamily="18" charset="0"/>
              </a:rPr>
              <a:t>epidemic</a:t>
            </a:r>
            <a:r>
              <a:rPr lang="fr-FR" dirty="0">
                <a:solidFill>
                  <a:srgbClr val="000000"/>
                </a:solidFill>
                <a:effectLst/>
                <a:latin typeface="Minion Pro" panose="02040503050306020203" pitchFamily="18" charset="0"/>
              </a:rPr>
              <a:t> population </a:t>
            </a:r>
            <a:r>
              <a:rPr lang="fr-FR" dirty="0" err="1">
                <a:solidFill>
                  <a:srgbClr val="000000"/>
                </a:solidFill>
                <a:effectLst/>
                <a:latin typeface="Minion Pro" panose="02040503050306020203" pitchFamily="18" charset="0"/>
              </a:rPr>
              <a:t>expanding</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exponential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growth</a:t>
            </a:r>
            <a:r>
              <a:rPr lang="fr-FR" dirty="0">
                <a:solidFill>
                  <a:srgbClr val="000000"/>
                </a:solidFill>
                <a:effectLst/>
                <a:latin typeface="Minion Pro" panose="02040503050306020203" pitchFamily="18" charset="0"/>
              </a:rPr>
              <a:t> over 100y (</a:t>
            </a:r>
            <a:r>
              <a:rPr lang="fr-FR" dirty="0" err="1">
                <a:solidFill>
                  <a:srgbClr val="000000"/>
                </a:solidFill>
                <a:effectLst/>
                <a:latin typeface="Minion Pro" panose="02040503050306020203" pitchFamily="18" charset="0"/>
              </a:rPr>
              <a:t>red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varying</a:t>
            </a:r>
            <a:r>
              <a:rPr lang="fr-FR" dirty="0">
                <a:solidFill>
                  <a:srgbClr val="000000"/>
                </a:solidFill>
                <a:effectLst/>
                <a:latin typeface="Minion Pro" panose="02040503050306020203" pitchFamily="18" charset="0"/>
              </a:rPr>
              <a:t> expansion </a:t>
            </a:r>
            <a:r>
              <a:rPr lang="fr-FR" b="1" dirty="0" err="1">
                <a:solidFill>
                  <a:srgbClr val="000000"/>
                </a:solidFill>
                <a:effectLst/>
                <a:latin typeface="Minion Pro" panose="02040503050306020203" pitchFamily="18" charset="0"/>
              </a:rPr>
              <a:t>fold</a:t>
            </a:r>
            <a:r>
              <a:rPr lang="fr-FR" b="1" dirty="0">
                <a:solidFill>
                  <a:srgbClr val="000000"/>
                </a:solidFill>
                <a:effectLst/>
                <a:latin typeface="Minion Pro" panose="02040503050306020203" pitchFamily="18" charset="0"/>
              </a:rPr>
              <a:t>-change</a:t>
            </a:r>
            <a:r>
              <a:rPr lang="fr-FR" dirty="0">
                <a:solidFill>
                  <a:srgbClr val="000000"/>
                </a:solidFill>
                <a:effectLst/>
                <a:latin typeface="Minion Pro" panose="02040503050306020203" pitchFamily="18" charset="0"/>
              </a:rPr>
              <a:t> (X-axis), </a:t>
            </a:r>
            <a:r>
              <a:rPr lang="fr-FR" dirty="0" err="1">
                <a:solidFill>
                  <a:srgbClr val="000000"/>
                </a:solidFill>
                <a:effectLst/>
                <a:latin typeface="Minion Pro" panose="02040503050306020203" pitchFamily="18" charset="0"/>
              </a:rPr>
              <a:t>sample</a:t>
            </a:r>
            <a:r>
              <a:rPr lang="fr-FR" dirty="0">
                <a:solidFill>
                  <a:srgbClr val="000000"/>
                </a:solidFill>
                <a:effectLst/>
                <a:latin typeface="Minion Pro" panose="02040503050306020203" pitchFamily="18" charset="0"/>
              </a:rPr>
              <a:t> size per population and </a:t>
            </a:r>
            <a:r>
              <a:rPr lang="fr-FR" dirty="0" err="1">
                <a:solidFill>
                  <a:srgbClr val="000000"/>
                </a:solidFill>
                <a:effectLst/>
                <a:latin typeface="Minion Pro" panose="02040503050306020203" pitchFamily="18" charset="0"/>
              </a:rPr>
              <a:t>number</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loci</a:t>
            </a:r>
            <a:r>
              <a:rPr lang="fr-FR" dirty="0">
                <a:solidFill>
                  <a:srgbClr val="000000"/>
                </a:solidFill>
                <a:effectLst/>
                <a:latin typeface="Minion Pro" panose="02040503050306020203" pitchFamily="18" charset="0"/>
              </a:rPr>
              <a:t>.</a:t>
            </a:r>
          </a:p>
        </p:txBody>
      </p:sp>
      <p:sp>
        <p:nvSpPr>
          <p:cNvPr id="5" name="Rectangle 4">
            <a:extLst>
              <a:ext uri="{FF2B5EF4-FFF2-40B4-BE49-F238E27FC236}">
                <a16:creationId xmlns:a16="http://schemas.microsoft.com/office/drawing/2014/main" id="{016419A6-D5B7-BD4A-B160-F16DED8B6B0E}"/>
              </a:ext>
            </a:extLst>
          </p:cNvPr>
          <p:cNvSpPr/>
          <p:nvPr/>
        </p:nvSpPr>
        <p:spPr>
          <a:xfrm>
            <a:off x="214313" y="3073784"/>
            <a:ext cx="11644312" cy="2031325"/>
          </a:xfrm>
          <a:prstGeom prst="rect">
            <a:avLst/>
          </a:prstGeom>
        </p:spPr>
        <p:txBody>
          <a:bodyPr wrap="square">
            <a:spAutoFit/>
          </a:bodyPr>
          <a:lstStyle/>
          <a:p>
            <a:r>
              <a:rPr lang="fr-FR" b="1" dirty="0"/>
              <a:t>Figure 2. Densité </a:t>
            </a:r>
            <a:r>
              <a:rPr lang="fr-FR" b="1" dirty="0" err="1"/>
              <a:t>haplotypique</a:t>
            </a:r>
            <a:r>
              <a:rPr lang="fr-FR" b="1" dirty="0"/>
              <a:t> échelonnée dans le temps (THD) de populations simulées de taille constante et en expansion</a:t>
            </a:r>
            <a:r>
              <a:rPr lang="fr-FR" dirty="0"/>
              <a:t>.</a:t>
            </a:r>
          </a:p>
          <a:p>
            <a:endParaRPr lang="fr-FR" dirty="0"/>
          </a:p>
          <a:p>
            <a:r>
              <a:rPr lang="fr-FR" dirty="0"/>
              <a:t>Les marqueurs représentent les moyennes géométriques THD échelonnées pour 1 000 métapopulations simulées par panneau, chacune comprenant une population de base avec une taille effective constante (bleu) et une population épidémique en expansion avec une croissance exponentielle sur 100 ans (rouge) avec un </a:t>
            </a:r>
            <a:r>
              <a:rPr lang="fr-FR" b="1" dirty="0"/>
              <a:t>changement de pli </a:t>
            </a:r>
            <a:r>
              <a:rPr lang="fr-FR" dirty="0"/>
              <a:t>d'expansion variable (axe X), la taille de l'échantillon par population et le nombre de </a:t>
            </a:r>
            <a:r>
              <a:rPr lang="fr-FR" dirty="0" err="1"/>
              <a:t>loci</a:t>
            </a:r>
            <a:r>
              <a:rPr lang="fr-FR" dirty="0"/>
              <a:t> génétiques.</a:t>
            </a:r>
          </a:p>
        </p:txBody>
      </p:sp>
    </p:spTree>
    <p:extLst>
      <p:ext uri="{BB962C8B-B14F-4D97-AF65-F5344CB8AC3E}">
        <p14:creationId xmlns:p14="http://schemas.microsoft.com/office/powerpoint/2010/main" val="1515691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144AA43-923A-5E4C-B6C6-2B4D2D2CBC26}"/>
              </a:ext>
            </a:extLst>
          </p:cNvPr>
          <p:cNvPicPr>
            <a:picLocks noChangeAspect="1"/>
          </p:cNvPicPr>
          <p:nvPr/>
        </p:nvPicPr>
        <p:blipFill>
          <a:blip r:embed="rId2"/>
          <a:stretch>
            <a:fillRect/>
          </a:stretch>
        </p:blipFill>
        <p:spPr>
          <a:xfrm>
            <a:off x="1908756" y="0"/>
            <a:ext cx="8374487" cy="6858000"/>
          </a:xfrm>
          <a:prstGeom prst="rect">
            <a:avLst/>
          </a:prstGeom>
        </p:spPr>
      </p:pic>
      <p:sp>
        <p:nvSpPr>
          <p:cNvPr id="6" name="Rectangle 5">
            <a:extLst>
              <a:ext uri="{FF2B5EF4-FFF2-40B4-BE49-F238E27FC236}">
                <a16:creationId xmlns:a16="http://schemas.microsoft.com/office/drawing/2014/main" id="{9D7397BE-7D75-5946-B990-8C50C72823C2}"/>
              </a:ext>
            </a:extLst>
          </p:cNvPr>
          <p:cNvSpPr/>
          <p:nvPr/>
        </p:nvSpPr>
        <p:spPr>
          <a:xfrm>
            <a:off x="10838492" y="301101"/>
            <a:ext cx="659155" cy="369332"/>
          </a:xfrm>
          <a:prstGeom prst="rect">
            <a:avLst/>
          </a:prstGeom>
        </p:spPr>
        <p:txBody>
          <a:bodyPr wrap="none">
            <a:spAutoFit/>
          </a:bodyPr>
          <a:lstStyle/>
          <a:p>
            <a:r>
              <a:rPr lang="fr-FR" b="1" dirty="0">
                <a:latin typeface="Arial" panose="020B0604020202020204" pitchFamily="34" charset="0"/>
                <a:cs typeface="Arial" panose="020B0604020202020204" pitchFamily="34" charset="0"/>
              </a:rPr>
              <a:t>Fig4</a:t>
            </a:r>
          </a:p>
        </p:txBody>
      </p:sp>
    </p:spTree>
    <p:extLst>
      <p:ext uri="{BB962C8B-B14F-4D97-AF65-F5344CB8AC3E}">
        <p14:creationId xmlns:p14="http://schemas.microsoft.com/office/powerpoint/2010/main" val="1606347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C11097-916A-B640-ACA1-AB8D9896ADDC}"/>
              </a:ext>
            </a:extLst>
          </p:cNvPr>
          <p:cNvSpPr/>
          <p:nvPr/>
        </p:nvSpPr>
        <p:spPr>
          <a:xfrm>
            <a:off x="542925" y="390937"/>
            <a:ext cx="11372850" cy="2308324"/>
          </a:xfrm>
          <a:prstGeom prst="rect">
            <a:avLst/>
          </a:prstGeom>
        </p:spPr>
        <p:txBody>
          <a:bodyPr wrap="square">
            <a:spAutoFit/>
          </a:bodyPr>
          <a:lstStyle/>
          <a:p>
            <a:r>
              <a:rPr lang="fr-FR" b="1" dirty="0">
                <a:solidFill>
                  <a:srgbClr val="000000"/>
                </a:solidFill>
                <a:effectLst/>
                <a:latin typeface="Minion Pro" panose="02040503050306020203" pitchFamily="18" charset="0"/>
              </a:rPr>
              <a:t>Figure 4. </a:t>
            </a:r>
            <a:r>
              <a:rPr lang="fr-FR" dirty="0" err="1">
                <a:solidFill>
                  <a:srgbClr val="000000"/>
                </a:solidFill>
                <a:effectLst/>
                <a:latin typeface="Minion Pro" panose="02040503050306020203" pitchFamily="18" charset="0"/>
              </a:rPr>
              <a:t>Comparison</a:t>
            </a:r>
            <a:r>
              <a:rPr lang="fr-FR" dirty="0">
                <a:solidFill>
                  <a:srgbClr val="000000"/>
                </a:solidFill>
                <a:effectLst/>
                <a:latin typeface="Minion Pro" panose="02040503050306020203" pitchFamily="18" charset="0"/>
              </a:rPr>
              <a:t> of time-</a:t>
            </a:r>
            <a:r>
              <a:rPr lang="fr-FR" dirty="0" err="1">
                <a:solidFill>
                  <a:srgbClr val="000000"/>
                </a:solidFill>
                <a:effectLst/>
                <a:latin typeface="Minion Pro" panose="02040503050306020203" pitchFamily="18" charset="0"/>
              </a:rPr>
              <a:t>scaled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haplotypic</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densities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THDs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MTBC </a:t>
            </a:r>
            <a:r>
              <a:rPr lang="fr-FR" dirty="0" err="1">
                <a:solidFill>
                  <a:srgbClr val="000000"/>
                </a:solidFill>
                <a:effectLst/>
                <a:latin typeface="Minion Pro" panose="02040503050306020203" pitchFamily="18" charset="0"/>
              </a:rPr>
              <a:t>lineages</a:t>
            </a:r>
            <a:r>
              <a:rPr lang="fr-FR" dirty="0">
                <a:solidFill>
                  <a:srgbClr val="000000"/>
                </a:solidFill>
                <a:effectLst/>
                <a:latin typeface="Minion Pro" panose="02040503050306020203" pitchFamily="18" charset="0"/>
              </a:rPr>
              <a:t> (</a:t>
            </a:r>
            <a:r>
              <a:rPr lang="fr-FR" b="1" dirty="0">
                <a:solidFill>
                  <a:srgbClr val="000000"/>
                </a:solidFill>
                <a:effectLst/>
                <a:latin typeface="Minion Pro" panose="02040503050306020203" pitchFamily="18" charset="0"/>
              </a:rPr>
              <a:t>A,C</a:t>
            </a:r>
            <a:r>
              <a:rPr lang="fr-FR" dirty="0">
                <a:solidFill>
                  <a:srgbClr val="000000"/>
                </a:solidFill>
                <a:effectLst/>
                <a:latin typeface="Minion Pro" panose="02040503050306020203" pitchFamily="18" charset="0"/>
              </a:rPr>
              <a:t>) and </a:t>
            </a:r>
            <a:r>
              <a:rPr lang="fr-FR" dirty="0" err="1">
                <a:solidFill>
                  <a:srgbClr val="000000"/>
                </a:solidFill>
                <a:effectLst/>
                <a:latin typeface="Minion Pro" panose="02040503050306020203" pitchFamily="18" charset="0"/>
              </a:rPr>
              <a:t>spoligotype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families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within</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Euro-American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lineage</a:t>
            </a:r>
            <a:r>
              <a:rPr lang="fr-FR" dirty="0">
                <a:solidFill>
                  <a:srgbClr val="000000"/>
                </a:solidFill>
                <a:effectLst/>
                <a:latin typeface="Minion Pro" panose="02040503050306020203" pitchFamily="18" charset="0"/>
              </a:rPr>
              <a:t> (</a:t>
            </a:r>
            <a:r>
              <a:rPr lang="fr-FR" b="1" dirty="0">
                <a:solidFill>
                  <a:srgbClr val="000000"/>
                </a:solidFill>
                <a:effectLst/>
                <a:latin typeface="Minion Pro" panose="02040503050306020203" pitchFamily="18" charset="0"/>
              </a:rPr>
              <a:t>B,D</a:t>
            </a:r>
            <a:r>
              <a:rPr lang="fr-FR" dirty="0">
                <a:solidFill>
                  <a:srgbClr val="000000"/>
                </a:solidFill>
                <a:effectLst/>
                <a:latin typeface="Minion Pro" panose="02040503050306020203" pitchFamily="18" charset="0"/>
              </a:rPr>
              <a:t>). Short (20y, (</a:t>
            </a:r>
            <a:r>
              <a:rPr lang="fr-FR" b="1" dirty="0">
                <a:solidFill>
                  <a:srgbClr val="000000"/>
                </a:solidFill>
                <a:effectLst/>
                <a:latin typeface="Minion Pro" panose="02040503050306020203" pitchFamily="18" charset="0"/>
              </a:rPr>
              <a:t>A,B</a:t>
            </a:r>
            <a:r>
              <a:rPr lang="fr-FR" dirty="0">
                <a:solidFill>
                  <a:srgbClr val="000000"/>
                </a:solidFill>
                <a:effectLst/>
                <a:latin typeface="Minion Pro" panose="02040503050306020203" pitchFamily="18" charset="0"/>
              </a:rPr>
              <a:t>) and long (200y, (</a:t>
            </a:r>
            <a:r>
              <a:rPr lang="fr-FR" b="1" dirty="0">
                <a:solidFill>
                  <a:srgbClr val="000000"/>
                </a:solidFill>
                <a:effectLst/>
                <a:latin typeface="Minion Pro" panose="02040503050306020203" pitchFamily="18" charset="0"/>
              </a:rPr>
              <a:t>C,D</a:t>
            </a:r>
            <a:r>
              <a:rPr lang="fr-FR" dirty="0">
                <a:solidFill>
                  <a:srgbClr val="000000"/>
                </a:solidFill>
                <a:effectLst/>
                <a:latin typeface="Minion Pro" panose="02040503050306020203" pitchFamily="18" charset="0"/>
              </a:rPr>
              <a:t>) THD </a:t>
            </a:r>
            <a:r>
              <a:rPr lang="fr-FR" dirty="0" err="1">
                <a:solidFill>
                  <a:srgbClr val="000000"/>
                </a:solidFill>
                <a:effectLst/>
                <a:latin typeface="Minion Pro" panose="02040503050306020203" pitchFamily="18" charset="0"/>
              </a:rPr>
              <a:t>timescales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used</a:t>
            </a:r>
            <a:r>
              <a:rPr lang="fr-FR" dirty="0">
                <a:solidFill>
                  <a:srgbClr val="000000"/>
                </a:solidFill>
                <a:effectLst/>
                <a:latin typeface="Minion Pro" panose="02040503050306020203" pitchFamily="18" charset="0"/>
              </a:rPr>
              <a:t> to </a:t>
            </a:r>
            <a:r>
              <a:rPr lang="fr-FR" dirty="0" err="1">
                <a:solidFill>
                  <a:srgbClr val="000000"/>
                </a:solidFill>
                <a:effectLst/>
                <a:latin typeface="Minion Pro" panose="02040503050306020203" pitchFamily="18" charset="0"/>
              </a:rPr>
              <a:t>reflect</a:t>
            </a:r>
            <a:r>
              <a:rPr lang="fr-FR" dirty="0">
                <a:solidFill>
                  <a:srgbClr val="000000"/>
                </a:solidFill>
                <a:effectLst/>
                <a:latin typeface="Minion Pro" panose="02040503050306020203" pitchFamily="18" charset="0"/>
              </a:rPr>
              <a:t> short- and long-</a:t>
            </a:r>
            <a:r>
              <a:rPr lang="fr-FR" dirty="0" err="1">
                <a:solidFill>
                  <a:srgbClr val="000000"/>
                </a:solidFill>
                <a:effectLst/>
                <a:latin typeface="Minion Pro" panose="02040503050306020203" pitchFamily="18" charset="0"/>
              </a:rPr>
              <a:t>term</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evolutionary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success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respectively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THDs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computed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either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respect to the </a:t>
            </a:r>
            <a:r>
              <a:rPr lang="fr-FR" dirty="0" err="1">
                <a:solidFill>
                  <a:srgbClr val="000000"/>
                </a:solidFill>
                <a:effectLst/>
                <a:latin typeface="Minion Pro" panose="02040503050306020203" pitchFamily="18" charset="0"/>
              </a:rPr>
              <a:t>complete</a:t>
            </a:r>
            <a:r>
              <a:rPr lang="fr-FR" dirty="0">
                <a:solidFill>
                  <a:srgbClr val="000000"/>
                </a:solidFill>
                <a:effectLst/>
                <a:latin typeface="Minion Pro" panose="02040503050306020203" pitchFamily="18" charset="0"/>
              </a:rPr>
              <a:t> collection of </a:t>
            </a:r>
            <a:r>
              <a:rPr lang="fr-FR" dirty="0" err="1">
                <a:solidFill>
                  <a:srgbClr val="000000"/>
                </a:solidFill>
                <a:effectLst/>
                <a:latin typeface="Minion Pro" panose="02040503050306020203" pitchFamily="18" charset="0"/>
              </a:rPr>
              <a:t>strains</a:t>
            </a:r>
            <a:r>
              <a:rPr lang="fr-FR" dirty="0">
                <a:solidFill>
                  <a:srgbClr val="000000"/>
                </a:solidFill>
                <a:effectLst/>
                <a:latin typeface="Minion Pro" panose="02040503050306020203" pitchFamily="18" charset="0"/>
              </a:rPr>
              <a:t> (global THD, </a:t>
            </a:r>
            <a:r>
              <a:rPr lang="fr-FR" dirty="0" err="1">
                <a:solidFill>
                  <a:srgbClr val="000000"/>
                </a:solidFill>
                <a:effectLst/>
                <a:latin typeface="Minion Pro" panose="02040503050306020203" pitchFamily="18" charset="0"/>
              </a:rPr>
              <a:t>blue</a:t>
            </a:r>
            <a:r>
              <a:rPr lang="fr-FR" dirty="0">
                <a:solidFill>
                  <a:srgbClr val="000000"/>
                </a:solidFill>
                <a:effectLst/>
                <a:latin typeface="Minion Pro" panose="02040503050306020203" pitchFamily="18" charset="0"/>
              </a:rPr>
              <a:t> marks) to </a:t>
            </a:r>
            <a:r>
              <a:rPr lang="fr-FR" dirty="0" err="1">
                <a:solidFill>
                  <a:srgbClr val="000000"/>
                </a:solidFill>
                <a:effectLst/>
                <a:latin typeface="Minion Pro" panose="02040503050306020203" pitchFamily="18" charset="0"/>
              </a:rPr>
              <a:t>reflect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evolutionary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success</a:t>
            </a:r>
            <a:r>
              <a:rPr lang="fr-FR" dirty="0">
                <a:solidFill>
                  <a:srgbClr val="000000"/>
                </a:solidFill>
                <a:effectLst/>
                <a:latin typeface="Minion Pro" panose="02040503050306020203" pitchFamily="18" charset="0"/>
              </a:rPr>
              <a:t> at the </a:t>
            </a:r>
            <a:r>
              <a:rPr lang="fr-FR" dirty="0" err="1">
                <a:solidFill>
                  <a:srgbClr val="000000"/>
                </a:solidFill>
                <a:effectLst/>
                <a:latin typeface="Minion Pro" panose="02040503050306020203" pitchFamily="18" charset="0"/>
              </a:rPr>
              <a:t>level</a:t>
            </a:r>
            <a:r>
              <a:rPr lang="fr-FR" dirty="0">
                <a:solidFill>
                  <a:srgbClr val="000000"/>
                </a:solidFill>
                <a:effectLst/>
                <a:latin typeface="Minion Pro" panose="02040503050306020203" pitchFamily="18" charset="0"/>
              </a:rPr>
              <a:t> of the </a:t>
            </a:r>
            <a:r>
              <a:rPr lang="fr-FR" dirty="0" err="1">
                <a:solidFill>
                  <a:srgbClr val="000000"/>
                </a:solidFill>
                <a:effectLst/>
                <a:latin typeface="Minion Pro" panose="02040503050306020203" pitchFamily="18" charset="0"/>
              </a:rPr>
              <a:t>cohort</a:t>
            </a:r>
            <a:r>
              <a:rPr lang="fr-FR" dirty="0">
                <a:solidFill>
                  <a:srgbClr val="000000"/>
                </a:solidFill>
                <a:effectLst/>
                <a:latin typeface="Minion Pro" panose="02040503050306020203" pitchFamily="18" charset="0"/>
              </a:rPr>
              <a:t>, or </a:t>
            </a:r>
            <a:r>
              <a:rPr lang="fr-FR" dirty="0" err="1">
                <a:solidFill>
                  <a:srgbClr val="000000"/>
                </a:solidFill>
                <a:effectLst/>
                <a:latin typeface="Minion Pro" panose="02040503050306020203" pitchFamily="18" charset="0"/>
              </a:rPr>
              <a:t>independently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within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group (</a:t>
            </a:r>
            <a:r>
              <a:rPr lang="fr-FR" dirty="0" err="1">
                <a:solidFill>
                  <a:srgbClr val="000000"/>
                </a:solidFill>
                <a:effectLst/>
                <a:latin typeface="Minion Pro" panose="02040503050306020203" pitchFamily="18" charset="0"/>
              </a:rPr>
              <a:t>within-lineage</a:t>
            </a:r>
            <a:r>
              <a:rPr lang="fr-FR" dirty="0">
                <a:solidFill>
                  <a:srgbClr val="000000"/>
                </a:solidFill>
                <a:effectLst/>
                <a:latin typeface="Minion Pro" panose="02040503050306020203" pitchFamily="18" charset="0"/>
              </a:rPr>
              <a:t> or -</a:t>
            </a:r>
            <a:r>
              <a:rPr lang="fr-FR" dirty="0" err="1">
                <a:solidFill>
                  <a:srgbClr val="000000"/>
                </a:solidFill>
                <a:effectLst/>
                <a:latin typeface="Minion Pro" panose="02040503050306020203" pitchFamily="18" charset="0"/>
              </a:rPr>
              <a:t>family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THDs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red</a:t>
            </a:r>
            <a:r>
              <a:rPr lang="fr-FR" dirty="0">
                <a:solidFill>
                  <a:srgbClr val="000000"/>
                </a:solidFill>
                <a:effectLst/>
                <a:latin typeface="Minion Pro" panose="02040503050306020203" pitchFamily="18" charset="0"/>
              </a:rPr>
              <a:t> marks) to </a:t>
            </a:r>
            <a:r>
              <a:rPr lang="fr-FR" dirty="0" err="1">
                <a:solidFill>
                  <a:srgbClr val="000000"/>
                </a:solidFill>
                <a:effectLst/>
                <a:latin typeface="Minion Pro" panose="02040503050306020203" pitchFamily="18" charset="0"/>
              </a:rPr>
              <a:t>reflect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evolutionary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success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independent</a:t>
            </a:r>
            <a:r>
              <a:rPr lang="fr-FR" dirty="0">
                <a:solidFill>
                  <a:srgbClr val="000000"/>
                </a:solidFill>
                <a:effectLst/>
                <a:latin typeface="Minion Pro" panose="02040503050306020203" pitchFamily="18" charset="0"/>
              </a:rPr>
              <a:t> of the global population structure in the collection. </a:t>
            </a:r>
            <a:r>
              <a:rPr lang="fr-FR" dirty="0" err="1">
                <a:solidFill>
                  <a:srgbClr val="000000"/>
                </a:solidFill>
                <a:effectLst/>
                <a:latin typeface="Minion Pro" panose="02040503050306020203" pitchFamily="18" charset="0"/>
              </a:rPr>
              <a:t>Circles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denote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mean</a:t>
            </a:r>
            <a:r>
              <a:rPr lang="fr-FR" dirty="0">
                <a:solidFill>
                  <a:srgbClr val="000000"/>
                </a:solidFill>
                <a:effectLst/>
                <a:latin typeface="Minion Pro" panose="02040503050306020203" pitchFamily="18" charset="0"/>
              </a:rPr>
              <a:t> log-</a:t>
            </a:r>
            <a:r>
              <a:rPr lang="fr-FR" dirty="0" err="1">
                <a:solidFill>
                  <a:srgbClr val="000000"/>
                </a:solidFill>
                <a:effectLst/>
                <a:latin typeface="Minion Pro" panose="02040503050306020203" pitchFamily="18" charset="0"/>
              </a:rPr>
              <a:t>THDs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error</a:t>
            </a:r>
            <a:r>
              <a:rPr lang="fr-FR" dirty="0">
                <a:solidFill>
                  <a:srgbClr val="000000"/>
                </a:solidFill>
                <a:effectLst/>
                <a:latin typeface="Minion Pro" panose="02040503050306020203" pitchFamily="18" charset="0"/>
              </a:rPr>
              <a:t> bars are 95% CI of the </a:t>
            </a:r>
            <a:r>
              <a:rPr lang="fr-FR" dirty="0" err="1">
                <a:solidFill>
                  <a:srgbClr val="000000"/>
                </a:solidFill>
                <a:effectLst/>
                <a:latin typeface="Minion Pro" panose="02040503050306020203" pitchFamily="18" charset="0"/>
              </a:rPr>
              <a:t>mean</a:t>
            </a:r>
            <a:r>
              <a:rPr lang="fr-FR" dirty="0">
                <a:solidFill>
                  <a:srgbClr val="000000"/>
                </a:solidFill>
                <a:effectLst/>
                <a:latin typeface="Minion Pro" panose="02040503050306020203" pitchFamily="18" charset="0"/>
              </a:rPr>
              <a:t> (not visible </a:t>
            </a:r>
            <a:r>
              <a:rPr lang="fr-FR" dirty="0" err="1">
                <a:solidFill>
                  <a:srgbClr val="000000"/>
                </a:solidFill>
                <a:effectLst/>
                <a:latin typeface="Minion Pro" panose="02040503050306020203" pitchFamily="18" charset="0"/>
              </a:rPr>
              <a:t>when</a:t>
            </a:r>
            <a:r>
              <a:rPr lang="fr-FR" dirty="0">
                <a:solidFill>
                  <a:srgbClr val="000000"/>
                </a:solidFill>
                <a:effectLst/>
                <a:latin typeface="Minion Pro" panose="02040503050306020203" pitchFamily="18" charset="0"/>
              </a:rPr>
              <a:t> CI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smaller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than</a:t>
            </a:r>
            <a:r>
              <a:rPr lang="fr-FR" dirty="0">
                <a:solidFill>
                  <a:srgbClr val="000000"/>
                </a:solidFill>
                <a:effectLst/>
                <a:latin typeface="Minion Pro" panose="02040503050306020203" pitchFamily="18" charset="0"/>
              </a:rPr>
              <a:t> marker size). </a:t>
            </a:r>
            <a:r>
              <a:rPr lang="fr-FR" dirty="0" err="1">
                <a:solidFill>
                  <a:srgbClr val="000000"/>
                </a:solidFill>
                <a:effectLst/>
                <a:latin typeface="Minion Pro" panose="02040503050306020203" pitchFamily="18" charset="0"/>
              </a:rPr>
              <a:t>Sample</a:t>
            </a:r>
            <a:r>
              <a:rPr lang="fr-FR" dirty="0">
                <a:solidFill>
                  <a:srgbClr val="000000"/>
                </a:solidFill>
                <a:effectLst/>
                <a:latin typeface="Minion Pro" panose="02040503050306020203" pitchFamily="18" charset="0"/>
              </a:rPr>
              <a:t> size in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group are </a:t>
            </a:r>
            <a:r>
              <a:rPr lang="fr-FR" dirty="0" err="1">
                <a:solidFill>
                  <a:srgbClr val="000000"/>
                </a:solidFill>
                <a:effectLst/>
                <a:latin typeface="Minion Pro" panose="02040503050306020203" pitchFamily="18" charset="0"/>
              </a:rPr>
              <a:t>indicated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above</a:t>
            </a:r>
            <a:r>
              <a:rPr lang="fr-FR" dirty="0">
                <a:solidFill>
                  <a:srgbClr val="000000"/>
                </a:solidFill>
                <a:effectLst/>
                <a:latin typeface="Minion Pro" panose="02040503050306020203" pitchFamily="18" charset="0"/>
              </a:rPr>
              <a:t> the X-axis. Indications of </a:t>
            </a:r>
            <a:r>
              <a:rPr lang="fr-FR" dirty="0" err="1">
                <a:solidFill>
                  <a:srgbClr val="000000"/>
                </a:solidFill>
                <a:effectLst/>
                <a:latin typeface="Minion Pro" panose="02040503050306020203" pitchFamily="18" charset="0"/>
              </a:rPr>
              <a:t>statistical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significance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omitted</a:t>
            </a:r>
            <a:r>
              <a:rPr lang="fr-FR" dirty="0">
                <a:solidFill>
                  <a:srgbClr val="000000"/>
                </a:solidFill>
                <a:effectLst/>
                <a:latin typeface="Minion Pro" panose="02040503050306020203" pitchFamily="18" charset="0"/>
              </a:rPr>
              <a:t> for </a:t>
            </a:r>
            <a:r>
              <a:rPr lang="fr-FR" dirty="0" err="1">
                <a:solidFill>
                  <a:srgbClr val="000000"/>
                </a:solidFill>
                <a:effectLst/>
                <a:latin typeface="Minion Pro" panose="02040503050306020203" pitchFamily="18" charset="0"/>
              </a:rPr>
              <a:t>readability</a:t>
            </a:r>
            <a:r>
              <a:rPr lang="fr-FR" dirty="0">
                <a:solidFill>
                  <a:srgbClr val="000000"/>
                </a:solidFill>
                <a:effectLst/>
                <a:latin typeface="Minion Pro" panose="02040503050306020203" pitchFamily="18" charset="0"/>
              </a:rPr>
              <a:t>.</a:t>
            </a:r>
          </a:p>
        </p:txBody>
      </p:sp>
      <p:sp>
        <p:nvSpPr>
          <p:cNvPr id="5" name="Rectangle 4">
            <a:extLst>
              <a:ext uri="{FF2B5EF4-FFF2-40B4-BE49-F238E27FC236}">
                <a16:creationId xmlns:a16="http://schemas.microsoft.com/office/drawing/2014/main" id="{DB55AEBB-AF1C-F240-A97B-C5A06062AAA2}"/>
              </a:ext>
            </a:extLst>
          </p:cNvPr>
          <p:cNvSpPr/>
          <p:nvPr/>
        </p:nvSpPr>
        <p:spPr>
          <a:xfrm>
            <a:off x="542925" y="3433028"/>
            <a:ext cx="11472863" cy="2862322"/>
          </a:xfrm>
          <a:prstGeom prst="rect">
            <a:avLst/>
          </a:prstGeom>
        </p:spPr>
        <p:txBody>
          <a:bodyPr wrap="square">
            <a:spAutoFit/>
          </a:bodyPr>
          <a:lstStyle/>
          <a:p>
            <a:r>
              <a:rPr lang="fr-FR" b="1" dirty="0"/>
              <a:t>Figure 4</a:t>
            </a:r>
            <a:r>
              <a:rPr lang="fr-FR" dirty="0"/>
              <a:t>. Comparaison des densités </a:t>
            </a:r>
            <a:r>
              <a:rPr lang="fr-FR" dirty="0" err="1"/>
              <a:t>haplotypiques</a:t>
            </a:r>
            <a:r>
              <a:rPr lang="fr-FR" dirty="0"/>
              <a:t> échelonnées dans le temps (THD) entre les lignées de MTBC (A,C) et des familles de </a:t>
            </a:r>
            <a:r>
              <a:rPr lang="fr-FR" dirty="0" err="1"/>
              <a:t>spoligotypes</a:t>
            </a:r>
            <a:r>
              <a:rPr lang="fr-FR" dirty="0"/>
              <a:t> au sein de la lignée euro-américaine (B,D). Des échelles de temps courtes (20 ans, (A,B) et longues (200 ans, (C,D) pour les THD ont été utilisées pour refléter le succès évolutif à court et à long terme, respectivement. Les THD ont été calculés soit par rapport à la collection complète de souches (THD global, marques bleues) pour refléter le succès évolutif au niveau de la cohorte, soit indépendamment au sein de chaque groupe (THD au sein de la lignée ou de la famille, marques rouges) pour refléter le succès évolutif indépendamment de la structure globale de la population dans la collection. Les cercles indiquent les log-THD moyens ; les barres d'erreur représentent l'IC à 95 % de la moyenne (non visible lorsque l'IC est plus petit que la taille du marqueur). La taille de l'échantillon dans chaque groupe est indiquée au-dessus de l'axe des X. Les indications de signification statistique ont été omises pour des raisons de lisibilité.</a:t>
            </a:r>
          </a:p>
        </p:txBody>
      </p:sp>
    </p:spTree>
    <p:extLst>
      <p:ext uri="{BB962C8B-B14F-4D97-AF65-F5344CB8AC3E}">
        <p14:creationId xmlns:p14="http://schemas.microsoft.com/office/powerpoint/2010/main" val="179581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84A2DB-C35E-9D4D-AE62-FF9FF21457AD}"/>
              </a:ext>
            </a:extLst>
          </p:cNvPr>
          <p:cNvSpPr>
            <a:spLocks noGrp="1"/>
          </p:cNvSpPr>
          <p:nvPr>
            <p:ph type="title"/>
          </p:nvPr>
        </p:nvSpPr>
        <p:spPr/>
        <p:txBody>
          <a:bodyPr/>
          <a:lstStyle/>
          <a:p>
            <a:r>
              <a:rPr lang="fr-FR" dirty="0" err="1"/>
              <a:t>Methodes</a:t>
            </a:r>
            <a:endParaRPr lang="fr-FR" dirty="0"/>
          </a:p>
        </p:txBody>
      </p:sp>
    </p:spTree>
    <p:extLst>
      <p:ext uri="{BB962C8B-B14F-4D97-AF65-F5344CB8AC3E}">
        <p14:creationId xmlns:p14="http://schemas.microsoft.com/office/powerpoint/2010/main" val="426937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7A44A1-2F44-6A4F-9A3A-87DE0475BEFB}"/>
              </a:ext>
            </a:extLst>
          </p:cNvPr>
          <p:cNvSpPr/>
          <p:nvPr/>
        </p:nvSpPr>
        <p:spPr>
          <a:xfrm>
            <a:off x="42859" y="70804"/>
            <a:ext cx="12130087" cy="4801314"/>
          </a:xfrm>
          <a:prstGeom prst="rect">
            <a:avLst/>
          </a:prstGeom>
        </p:spPr>
        <p:txBody>
          <a:bodyPr wrap="square">
            <a:spAutoFit/>
          </a:bodyPr>
          <a:lstStyle/>
          <a:p>
            <a:r>
              <a:rPr lang="fr-FR" dirty="0" err="1">
                <a:solidFill>
                  <a:srgbClr val="000000"/>
                </a:solidFill>
                <a:effectLst/>
                <a:latin typeface="Helvetica" pitchFamily="2" charset="0"/>
              </a:rPr>
              <a:t>Timescaled</a:t>
            </a:r>
            <a:r>
              <a:rPr lang="fr-FR" dirty="0">
                <a:solidFill>
                  <a:srgbClr val="000000"/>
                </a:solidFill>
                <a:effectLst/>
                <a:latin typeface="Helvetica" pitchFamily="2" charset="0"/>
              </a:rPr>
              <a:t> </a:t>
            </a:r>
            <a:r>
              <a:rPr lang="fr-FR" dirty="0" err="1">
                <a:solidFill>
                  <a:srgbClr val="000000"/>
                </a:solidFill>
                <a:effectLst/>
                <a:latin typeface="Helvetica" pitchFamily="2" charset="0"/>
              </a:rPr>
              <a:t>haplotypic</a:t>
            </a:r>
            <a:r>
              <a:rPr lang="fr-FR" dirty="0">
                <a:solidFill>
                  <a:srgbClr val="000000"/>
                </a:solidFill>
                <a:effectLst/>
                <a:latin typeface="Helvetica" pitchFamily="2" charset="0"/>
              </a:rPr>
              <a:t> </a:t>
            </a:r>
            <a:r>
              <a:rPr lang="fr-FR" dirty="0" err="1">
                <a:solidFill>
                  <a:srgbClr val="000000"/>
                </a:solidFill>
                <a:effectLst/>
                <a:latin typeface="Helvetica" pitchFamily="2" charset="0"/>
              </a:rPr>
              <a:t>density</a:t>
            </a:r>
            <a:r>
              <a:rPr lang="fr-FR" dirty="0">
                <a:solidFill>
                  <a:srgbClr val="000000"/>
                </a:solidFill>
                <a:effectLst/>
                <a:latin typeface="Helvetica" pitchFamily="2" charset="0"/>
              </a:rPr>
              <a:t>.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consider</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problem</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kernel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estimation to </a:t>
            </a:r>
            <a:r>
              <a:rPr lang="fr-FR" dirty="0" err="1">
                <a:solidFill>
                  <a:srgbClr val="000000"/>
                </a:solidFill>
                <a:effectLst/>
                <a:latin typeface="Minion Pro" panose="02040503050306020203" pitchFamily="18" charset="0"/>
              </a:rPr>
              <a:t>assign</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measure</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to a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represented</a:t>
            </a:r>
            <a:r>
              <a:rPr lang="fr-FR" dirty="0">
                <a:solidFill>
                  <a:srgbClr val="000000"/>
                </a:solidFill>
                <a:effectLst/>
                <a:latin typeface="Minion Pro" panose="02040503050306020203" pitchFamily="18" charset="0"/>
              </a:rPr>
              <a:t> as a </a:t>
            </a:r>
            <a:r>
              <a:rPr lang="fr-FR" dirty="0" err="1">
                <a:solidFill>
                  <a:srgbClr val="000000"/>
                </a:solidFill>
                <a:effectLst/>
                <a:latin typeface="Minion Pro" panose="02040503050306020203" pitchFamily="18" charset="0"/>
              </a:rPr>
              <a:t>vector</a:t>
            </a:r>
            <a:r>
              <a:rPr lang="fr-FR" dirty="0">
                <a:solidFill>
                  <a:srgbClr val="000000"/>
                </a:solidFill>
                <a:effectLst/>
                <a:latin typeface="Minion Pro" panose="02040503050306020203" pitchFamily="18" charset="0"/>
              </a:rPr>
              <a:t> of markers, relative to a set of </a:t>
            </a:r>
            <a:r>
              <a:rPr lang="fr-FR" dirty="0" err="1">
                <a:solidFill>
                  <a:srgbClr val="000000"/>
                </a:solidFill>
                <a:effectLst/>
                <a:latin typeface="Minion Pro" panose="02040503050306020203" pitchFamily="18" charset="0"/>
              </a:rPr>
              <a:t>other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After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providing</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required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definitions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briefly</a:t>
            </a:r>
            <a:r>
              <a:rPr lang="fr-FR" dirty="0">
                <a:solidFill>
                  <a:srgbClr val="000000"/>
                </a:solidFill>
                <a:effectLst/>
                <a:latin typeface="Minion Pro" panose="02040503050306020203" pitchFamily="18" charset="0"/>
              </a:rPr>
              <a:t> expose the </a:t>
            </a:r>
            <a:r>
              <a:rPr lang="fr-FR" dirty="0" err="1">
                <a:solidFill>
                  <a:srgbClr val="000000"/>
                </a:solidFill>
                <a:effectLst/>
                <a:latin typeface="Minion Pro" panose="02040503050306020203" pitchFamily="18" charset="0"/>
              </a:rPr>
              <a:t>kernel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function</a:t>
            </a:r>
            <a:r>
              <a:rPr lang="fr-FR" dirty="0">
                <a:solidFill>
                  <a:srgbClr val="000000"/>
                </a:solidFill>
                <a:effectLst/>
                <a:latin typeface="Minion Pro" panose="02040503050306020203" pitchFamily="18" charset="0"/>
              </a:rPr>
              <a:t>, the computation of the </a:t>
            </a:r>
            <a:r>
              <a:rPr lang="fr-FR" dirty="0" err="1">
                <a:solidFill>
                  <a:srgbClr val="000000"/>
                </a:solidFill>
                <a:effectLst/>
                <a:latin typeface="Minion Pro" panose="02040503050306020203" pitchFamily="18" charset="0"/>
              </a:rPr>
              <a:t>bandwith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based</a:t>
            </a:r>
            <a:r>
              <a:rPr lang="fr-FR" dirty="0">
                <a:solidFill>
                  <a:srgbClr val="000000"/>
                </a:solidFill>
                <a:effectLst/>
                <a:latin typeface="Minion Pro" panose="02040503050306020203" pitchFamily="18" charset="0"/>
              </a:rPr>
              <a:t> on a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parameter</a:t>
            </a:r>
            <a:r>
              <a:rPr lang="fr-FR" dirty="0">
                <a:solidFill>
                  <a:srgbClr val="000000"/>
                </a:solidFill>
                <a:effectLst/>
                <a:latin typeface="Minion Pro" panose="02040503050306020203" pitchFamily="18" charset="0"/>
              </a:rPr>
              <a:t>, and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provide</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synthetic</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overview</a:t>
            </a:r>
            <a:r>
              <a:rPr lang="fr-FR" dirty="0">
                <a:solidFill>
                  <a:srgbClr val="000000"/>
                </a:solidFill>
                <a:effectLst/>
                <a:latin typeface="Minion Pro" panose="02040503050306020203" pitchFamily="18" charset="0"/>
              </a:rPr>
              <a:t> of THD computation. Source code of the software </a:t>
            </a:r>
            <a:r>
              <a:rPr lang="fr-FR" dirty="0" err="1">
                <a:solidFill>
                  <a:srgbClr val="000000"/>
                </a:solidFill>
                <a:effectLst/>
                <a:latin typeface="Minion Pro" panose="02040503050306020203" pitchFamily="18" charset="0"/>
              </a:rPr>
              <a:t>implementation</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these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methods</a:t>
            </a:r>
            <a:r>
              <a:rPr lang="fr-FR" dirty="0">
                <a:solidFill>
                  <a:srgbClr val="000000"/>
                </a:solidFill>
                <a:effectLst/>
                <a:latin typeface="Minion Pro" panose="02040503050306020203" pitchFamily="18" charset="0"/>
              </a:rPr>
              <a:t> for the R </a:t>
            </a:r>
            <a:r>
              <a:rPr lang="fr-FR" dirty="0" err="1">
                <a:solidFill>
                  <a:srgbClr val="000000"/>
                </a:solidFill>
                <a:effectLst/>
                <a:latin typeface="Minion Pro" panose="02040503050306020203" pitchFamily="18" charset="0"/>
              </a:rPr>
              <a:t>platform</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available</a:t>
            </a:r>
            <a:r>
              <a:rPr lang="fr-FR" dirty="0">
                <a:solidFill>
                  <a:srgbClr val="000000"/>
                </a:solidFill>
                <a:effectLst/>
                <a:latin typeface="Minion Pro" panose="02040503050306020203" pitchFamily="18" charset="0"/>
              </a:rPr>
              <a:t> in the </a:t>
            </a:r>
            <a:r>
              <a:rPr lang="fr-FR" dirty="0" err="1">
                <a:solidFill>
                  <a:srgbClr val="000000"/>
                </a:solidFill>
                <a:effectLst/>
                <a:latin typeface="Minion Pro" panose="02040503050306020203" pitchFamily="18" charset="0"/>
              </a:rPr>
              <a:t>Supplementary</a:t>
            </a:r>
            <a:r>
              <a:rPr lang="fr-FR" dirty="0">
                <a:solidFill>
                  <a:srgbClr val="000000"/>
                </a:solidFill>
                <a:effectLst/>
                <a:latin typeface="Minion Pro" panose="02040503050306020203" pitchFamily="18" charset="0"/>
              </a:rPr>
              <a:t> Note.</a:t>
            </a:r>
          </a:p>
          <a:p>
            <a:r>
              <a:rPr lang="fr-FR" dirty="0">
                <a:solidFill>
                  <a:srgbClr val="000000"/>
                </a:solidFill>
                <a:effectLst/>
                <a:latin typeface="Minion Pro" panose="02040503050306020203" pitchFamily="18" charset="0"/>
              </a:rPr>
              <a:t>Let </a:t>
            </a:r>
            <a:r>
              <a:rPr lang="fr-FR" i="1" dirty="0">
                <a:solidFill>
                  <a:srgbClr val="000000"/>
                </a:solidFill>
                <a:effectLst/>
                <a:latin typeface="Minion Pro" panose="02040503050306020203" pitchFamily="18" charset="0"/>
              </a:rPr>
              <a:t>X </a:t>
            </a:r>
            <a:r>
              <a:rPr lang="fr-FR" dirty="0" err="1">
                <a:solidFill>
                  <a:srgbClr val="000000"/>
                </a:solidFill>
                <a:effectLst/>
                <a:latin typeface="Minion Pro" panose="02040503050306020203" pitchFamily="18" charset="0"/>
              </a:rPr>
              <a:t>be</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sample</a:t>
            </a:r>
            <a:r>
              <a:rPr lang="fr-FR" dirty="0">
                <a:solidFill>
                  <a:srgbClr val="000000"/>
                </a:solidFill>
                <a:effectLst/>
                <a:latin typeface="Minion Pro" panose="02040503050306020203" pitchFamily="18" charset="0"/>
              </a:rPr>
              <a:t> of </a:t>
            </a:r>
            <a:r>
              <a:rPr lang="fr-FR" i="1" dirty="0">
                <a:solidFill>
                  <a:srgbClr val="000000"/>
                </a:solidFill>
                <a:effectLst/>
                <a:latin typeface="Minion Pro" panose="02040503050306020203" pitchFamily="18" charset="0"/>
              </a:rPr>
              <a:t>n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defined</a:t>
            </a:r>
            <a:r>
              <a:rPr lang="fr-FR" dirty="0">
                <a:solidFill>
                  <a:srgbClr val="000000"/>
                </a:solidFill>
                <a:effectLst/>
                <a:latin typeface="Minion Pro" panose="02040503050306020203" pitchFamily="18" charset="0"/>
              </a:rPr>
              <a:t> over </a:t>
            </a:r>
            <a:r>
              <a:rPr lang="fr-FR" i="1" dirty="0">
                <a:solidFill>
                  <a:srgbClr val="000000"/>
                </a:solidFill>
                <a:effectLst/>
                <a:latin typeface="Minion Pro" panose="02040503050306020203" pitchFamily="18" charset="0"/>
              </a:rPr>
              <a:t>m </a:t>
            </a:r>
            <a:r>
              <a:rPr lang="fr-FR" dirty="0">
                <a:solidFill>
                  <a:srgbClr val="000000"/>
                </a:solidFill>
                <a:effectLst/>
                <a:latin typeface="Minion Pro" panose="02040503050306020203" pitchFamily="18" charset="0"/>
              </a:rPr>
              <a:t>markers, </a:t>
            </a:r>
            <a:r>
              <a:rPr lang="fr-FR" dirty="0" err="1">
                <a:solidFill>
                  <a:srgbClr val="000000"/>
                </a:solidFill>
                <a:effectLst/>
                <a:latin typeface="Minion Pro" panose="02040503050306020203" pitchFamily="18" charset="0"/>
              </a:rPr>
              <a:t>represented</a:t>
            </a:r>
            <a:r>
              <a:rPr lang="fr-FR" dirty="0">
                <a:solidFill>
                  <a:srgbClr val="000000"/>
                </a:solidFill>
                <a:effectLst/>
                <a:latin typeface="Minion Pro" panose="02040503050306020203" pitchFamily="18" charset="0"/>
              </a:rPr>
              <a:t> as an (</a:t>
            </a:r>
            <a:r>
              <a:rPr lang="fr-FR" i="1" dirty="0" err="1">
                <a:solidFill>
                  <a:srgbClr val="000000"/>
                </a:solidFill>
                <a:effectLst/>
                <a:latin typeface="Minion Pro" panose="02040503050306020203" pitchFamily="18" charset="0"/>
              </a:rPr>
              <a:t>n</a:t>
            </a:r>
            <a:r>
              <a:rPr lang="fr-FR" dirty="0" err="1">
                <a:solidFill>
                  <a:srgbClr val="000000"/>
                </a:solidFill>
                <a:effectLst/>
                <a:latin typeface="Helvetica" pitchFamily="2" charset="0"/>
              </a:rPr>
              <a:t>×</a:t>
            </a:r>
            <a:r>
              <a:rPr lang="fr-FR" i="1" dirty="0" err="1">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data matrix, and let </a:t>
            </a:r>
            <a:r>
              <a:rPr lang="fr-FR" i="1" dirty="0">
                <a:solidFill>
                  <a:srgbClr val="000000"/>
                </a:solidFill>
                <a:effectLst/>
                <a:latin typeface="Minion Pro" panose="02040503050306020203" pitchFamily="18" charset="0"/>
              </a:rPr>
              <a:t>y </a:t>
            </a:r>
            <a:r>
              <a:rPr lang="fr-FR" dirty="0" err="1">
                <a:solidFill>
                  <a:srgbClr val="000000"/>
                </a:solidFill>
                <a:effectLst/>
                <a:latin typeface="Minion Pro" panose="02040503050306020203" pitchFamily="18" charset="0"/>
              </a:rPr>
              <a:t>be</a:t>
            </a:r>
            <a:endParaRPr lang="fr-FR" dirty="0">
              <a:solidFill>
                <a:srgbClr val="000000"/>
              </a:solidFill>
              <a:effectLst/>
              <a:latin typeface="Minion Pro" panose="02040503050306020203" pitchFamily="18" charset="0"/>
            </a:endParaRPr>
          </a:p>
          <a:p>
            <a:r>
              <a:rPr lang="fr-FR" dirty="0">
                <a:solidFill>
                  <a:srgbClr val="000000"/>
                </a:solidFill>
                <a:effectLst/>
                <a:latin typeface="Minion Pro" panose="02040503050306020203" pitchFamily="18" charset="0"/>
              </a:rPr>
              <a:t>a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interest</a:t>
            </a:r>
            <a:r>
              <a:rPr lang="fr-FR" dirty="0">
                <a:solidFill>
                  <a:srgbClr val="000000"/>
                </a:solidFill>
                <a:effectLst/>
                <a:latin typeface="Minion Pro" panose="02040503050306020203" pitchFamily="18" charset="0"/>
              </a:rPr>
              <a:t> not in </a:t>
            </a:r>
            <a:r>
              <a:rPr lang="fr-FR" i="1" dirty="0">
                <a:solidFill>
                  <a:srgbClr val="000000"/>
                </a:solidFill>
                <a:effectLst/>
                <a:latin typeface="Minion Pro" panose="02040503050306020203" pitchFamily="18" charset="0"/>
              </a:rPr>
              <a:t>X</a:t>
            </a:r>
            <a:r>
              <a:rPr lang="fr-FR" dirty="0">
                <a:solidFill>
                  <a:srgbClr val="000000"/>
                </a:solidFill>
                <a:effectLst/>
                <a:latin typeface="Minion Pro" panose="02040503050306020203" pitchFamily="18" charset="0"/>
              </a:rPr>
              <a:t>. </a:t>
            </a:r>
          </a:p>
          <a:p>
            <a:r>
              <a:rPr lang="fr-FR" dirty="0">
                <a:solidFill>
                  <a:srgbClr val="000000"/>
                </a:solidFill>
                <a:effectLst/>
                <a:latin typeface="Minion Pro" panose="02040503050306020203" pitchFamily="18" charset="0"/>
              </a:rPr>
              <a:t>For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xi </a:t>
            </a:r>
            <a:r>
              <a:rPr lang="fr-FR" dirty="0">
                <a:solidFill>
                  <a:srgbClr val="000000"/>
                </a:solidFill>
                <a:effectLst/>
                <a:latin typeface="Minion Pro" panose="02040503050306020203" pitchFamily="18" charset="0"/>
              </a:rPr>
              <a:t>in </a:t>
            </a:r>
            <a:r>
              <a:rPr lang="fr-FR" i="1" dirty="0">
                <a:solidFill>
                  <a:srgbClr val="000000"/>
                </a:solidFill>
                <a:effectLst/>
                <a:latin typeface="Minion Pro" panose="02040503050306020203" pitchFamily="18" charset="0"/>
              </a:rPr>
              <a:t>X</a:t>
            </a:r>
            <a:r>
              <a:rPr lang="fr-FR" dirty="0">
                <a:solidFill>
                  <a:srgbClr val="000000"/>
                </a:solidFill>
                <a:effectLst/>
                <a:latin typeface="Minion Pro" panose="02040503050306020203" pitchFamily="18" charset="0"/>
              </a:rPr>
              <a:t>, let </a:t>
            </a:r>
            <a:r>
              <a:rPr lang="fr-FR" i="1" dirty="0">
                <a:solidFill>
                  <a:srgbClr val="000000"/>
                </a:solidFill>
                <a:effectLst/>
                <a:latin typeface="Minion Pro" panose="02040503050306020203" pitchFamily="18" charset="0"/>
              </a:rPr>
              <a:t>hi </a:t>
            </a:r>
            <a:r>
              <a:rPr lang="fr-FR" dirty="0" err="1">
                <a:solidFill>
                  <a:srgbClr val="000000"/>
                </a:solidFill>
                <a:effectLst/>
                <a:latin typeface="Minion Pro" panose="02040503050306020203" pitchFamily="18" charset="0"/>
              </a:rPr>
              <a:t>be</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distance </a:t>
            </a:r>
            <a:r>
              <a:rPr lang="fr-FR" dirty="0" err="1">
                <a:solidFill>
                  <a:srgbClr val="000000"/>
                </a:solidFill>
                <a:effectLst/>
                <a:latin typeface="Minion Pro" panose="02040503050306020203" pitchFamily="18" charset="0"/>
              </a:rPr>
              <a:t>from</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y </a:t>
            </a:r>
            <a:r>
              <a:rPr lang="fr-FR" dirty="0">
                <a:solidFill>
                  <a:srgbClr val="000000"/>
                </a:solidFill>
                <a:effectLst/>
                <a:latin typeface="Minion Pro" panose="02040503050306020203" pitchFamily="18" charset="0"/>
              </a:rPr>
              <a:t>to </a:t>
            </a:r>
            <a:r>
              <a:rPr lang="fr-FR" i="1" dirty="0">
                <a:solidFill>
                  <a:srgbClr val="000000"/>
                </a:solidFill>
                <a:effectLst/>
                <a:latin typeface="Minion Pro" panose="02040503050306020203" pitchFamily="18" charset="0"/>
              </a:rPr>
              <a:t>xi</a:t>
            </a:r>
            <a:r>
              <a:rPr lang="fr-FR" dirty="0">
                <a:solidFill>
                  <a:srgbClr val="000000"/>
                </a:solidFill>
                <a:effectLst/>
                <a:latin typeface="Minion Pro" panose="02040503050306020203" pitchFamily="18" charset="0"/>
              </a:rPr>
              <a:t>, i.e. the </a:t>
            </a:r>
            <a:r>
              <a:rPr lang="fr-FR" dirty="0" err="1">
                <a:solidFill>
                  <a:srgbClr val="000000"/>
                </a:solidFill>
                <a:effectLst/>
                <a:latin typeface="Minion Pro" panose="02040503050306020203" pitchFamily="18" charset="0"/>
              </a:rPr>
              <a:t>number</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differences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xi </a:t>
            </a:r>
            <a:r>
              <a:rPr lang="fr-FR" dirty="0">
                <a:solidFill>
                  <a:srgbClr val="000000"/>
                </a:solidFill>
                <a:effectLst/>
                <a:latin typeface="Minion Pro" panose="02040503050306020203" pitchFamily="18" charset="0"/>
              </a:rPr>
              <a:t>and </a:t>
            </a:r>
            <a:r>
              <a:rPr lang="fr-FR" i="1" dirty="0">
                <a:solidFill>
                  <a:srgbClr val="000000"/>
                </a:solidFill>
                <a:effectLst/>
                <a:latin typeface="Minion Pro" panose="02040503050306020203" pitchFamily="18" charset="0"/>
              </a:rPr>
              <a:t>y</a:t>
            </a:r>
            <a:r>
              <a:rPr lang="fr-FR" dirty="0">
                <a:solidFill>
                  <a:srgbClr val="000000"/>
                </a:solidFill>
                <a:effectLst/>
                <a:latin typeface="Minion Pro" panose="02040503050306020203" pitchFamily="18" charset="0"/>
              </a:rPr>
              <a:t>. </a:t>
            </a:r>
          </a:p>
          <a:p>
            <a:r>
              <a:rPr lang="fr-FR" dirty="0">
                <a:solidFill>
                  <a:srgbClr val="000000"/>
                </a:solidFill>
                <a:effectLst/>
                <a:latin typeface="Minion Pro" panose="02040503050306020203" pitchFamily="18" charset="0"/>
              </a:rPr>
              <a:t>A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distance </a:t>
            </a:r>
            <a:r>
              <a:rPr lang="fr-FR" i="1" dirty="0">
                <a:solidFill>
                  <a:srgbClr val="000000"/>
                </a:solidFill>
                <a:effectLst/>
                <a:latin typeface="Minion Pro" panose="02040503050306020203" pitchFamily="18" charset="0"/>
              </a:rPr>
              <a:t>h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associated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kernel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formally</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probability</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k</a:t>
            </a:r>
            <a:r>
              <a:rPr lang="fr-FR" dirty="0">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h</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b</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under</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truncated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 </a:t>
            </a:r>
            <a:r>
              <a:rPr lang="fr-FR" dirty="0">
                <a:solidFill>
                  <a:srgbClr val="000000"/>
                </a:solidFill>
                <a:effectLst/>
                <a:latin typeface="Minion Pro" panose="02040503050306020203" pitchFamily="18" charset="0"/>
              </a:rPr>
              <a:t>(</a:t>
            </a:r>
            <a:r>
              <a:rPr lang="fr-FR" dirty="0" err="1">
                <a:solidFill>
                  <a:srgbClr val="000000"/>
                </a:solidFill>
                <a:effectLst/>
                <a:latin typeface="Minion Pro" panose="02040503050306020203" pitchFamily="18" charset="0"/>
              </a:rPr>
              <a:t>formally</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failure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probability</a:t>
            </a:r>
            <a:r>
              <a:rPr lang="fr-FR" dirty="0">
                <a:solidFill>
                  <a:srgbClr val="000000"/>
                </a:solidFill>
                <a:effectLst/>
                <a:latin typeface="Minion Pro" panose="02040503050306020203" pitchFamily="18" charset="0"/>
              </a:rPr>
              <a:t> of a Bernoulli trial) and </a:t>
            </a:r>
            <a:r>
              <a:rPr lang="fr-FR" dirty="0" err="1">
                <a:solidFill>
                  <a:srgbClr val="000000"/>
                </a:solidFill>
                <a:effectLst/>
                <a:latin typeface="Minion Pro" panose="02040503050306020203" pitchFamily="18" charset="0"/>
              </a:rPr>
              <a:t>truncation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limit</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a:t>
            </a:r>
          </a:p>
          <a:p>
            <a:r>
              <a:rPr lang="fr-FR" dirty="0">
                <a:solidFill>
                  <a:srgbClr val="000000"/>
                </a:solidFill>
                <a:effectLst/>
                <a:latin typeface="Minion Pro" panose="02040503050306020203" pitchFamily="18" charset="0"/>
              </a:rPr>
              <a:t>This distribution has </a:t>
            </a:r>
            <a:r>
              <a:rPr lang="fr-FR" dirty="0" err="1">
                <a:solidFill>
                  <a:srgbClr val="000000"/>
                </a:solidFill>
                <a:effectLst/>
                <a:latin typeface="Minion Pro" panose="02040503050306020203" pitchFamily="18" charset="0"/>
              </a:rPr>
              <a:t>probability</a:t>
            </a:r>
            <a:r>
              <a:rPr lang="fr-FR" dirty="0">
                <a:solidFill>
                  <a:srgbClr val="000000"/>
                </a:solidFill>
                <a:effectLst/>
                <a:latin typeface="Minion Pro" panose="02040503050306020203" pitchFamily="18" charset="0"/>
              </a:rPr>
              <a:t> mass </a:t>
            </a:r>
            <a:r>
              <a:rPr lang="fr-FR" dirty="0" err="1">
                <a:solidFill>
                  <a:srgbClr val="000000"/>
                </a:solidFill>
                <a:effectLst/>
                <a:latin typeface="Minion Pro" panose="02040503050306020203" pitchFamily="18" charset="0"/>
              </a:rPr>
              <a:t>function</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k </a:t>
            </a:r>
            <a:r>
              <a:rPr lang="fr-FR" dirty="0">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h</a:t>
            </a:r>
            <a:r>
              <a:rPr lang="fr-FR" dirty="0" err="1">
                <a:solidFill>
                  <a:srgbClr val="000000"/>
                </a:solidFill>
                <a:effectLst/>
                <a:latin typeface="Helvetica" pitchFamily="2" charset="0"/>
              </a:rPr>
              <a:t>|</a:t>
            </a:r>
            <a:r>
              <a:rPr lang="fr-FR" i="1" dirty="0" err="1">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a:t>
            </a:r>
            <a:r>
              <a:rPr lang="fr-FR" dirty="0">
                <a:solidFill>
                  <a:srgbClr val="000000"/>
                </a:solidFill>
                <a:effectLst/>
                <a:latin typeface="Helvetica" pitchFamily="2" charset="0"/>
              </a:rPr>
              <a:t>= </a:t>
            </a:r>
            <a:r>
              <a:rPr lang="fr-FR" dirty="0">
                <a:solidFill>
                  <a:srgbClr val="000000"/>
                </a:solidFill>
                <a:effectLst/>
                <a:latin typeface="Minion Pro" panose="02040503050306020203" pitchFamily="18" charset="0"/>
              </a:rPr>
              <a:t>( 1 </a:t>
            </a:r>
            <a:r>
              <a:rPr lang="fr-FR" dirty="0">
                <a:solidFill>
                  <a:srgbClr val="000000"/>
                </a:solidFill>
                <a:effectLst/>
                <a:latin typeface="Helvetica" pitchFamily="2" charset="0"/>
              </a:rPr>
              <a:t>− </a:t>
            </a:r>
            <a:r>
              <a:rPr lang="fr-FR" i="1" dirty="0">
                <a:solidFill>
                  <a:srgbClr val="000000"/>
                </a:solidFill>
                <a:effectLst/>
                <a:latin typeface="Minion Pro" panose="02040503050306020203" pitchFamily="18" charset="0"/>
              </a:rPr>
              <a:t>b bh</a:t>
            </a:r>
            <a:r>
              <a:rPr lang="fr-FR" dirty="0">
                <a:solidFill>
                  <a:srgbClr val="000000"/>
                </a:solidFill>
                <a:effectLst/>
                <a:latin typeface="Minion Pro" panose="02040503050306020203" pitchFamily="18" charset="0"/>
              </a:rPr>
              <a:t>.</a:t>
            </a:r>
            <a:r>
              <a:rPr lang="fr-FR" i="1" dirty="0">
                <a:solidFill>
                  <a:srgbClr val="000000"/>
                </a:solidFill>
                <a:effectLst/>
                <a:latin typeface="Minion Pro" panose="02040503050306020203" pitchFamily="18" charset="0"/>
              </a:rPr>
              <a:t>m</a:t>
            </a:r>
            <a:r>
              <a:rPr lang="fr-FR" dirty="0">
                <a:solidFill>
                  <a:srgbClr val="000000"/>
                </a:solidFill>
                <a:effectLst/>
                <a:latin typeface="Helvetica" pitchFamily="2" charset="0"/>
              </a:rPr>
              <a:t>+</a:t>
            </a:r>
            <a:r>
              <a:rPr lang="fr-FR" dirty="0">
                <a:solidFill>
                  <a:srgbClr val="000000"/>
                </a:solidFill>
                <a:effectLst/>
                <a:latin typeface="Minion Pro" panose="02040503050306020203" pitchFamily="18" charset="0"/>
              </a:rPr>
              <a:t>1</a:t>
            </a:r>
          </a:p>
          <a:p>
            <a:r>
              <a:rPr lang="fr-FR" dirty="0">
                <a:solidFill>
                  <a:srgbClr val="000000"/>
                </a:solidFill>
                <a:effectLst/>
                <a:latin typeface="Minion Pro" panose="02040503050306020203" pitchFamily="18" charset="0"/>
              </a:rPr>
              <a:t>The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 real </a:t>
            </a:r>
            <a:r>
              <a:rPr lang="fr-FR" dirty="0" err="1">
                <a:solidFill>
                  <a:srgbClr val="000000"/>
                </a:solidFill>
                <a:effectLst/>
                <a:latin typeface="Minion Pro" panose="02040503050306020203" pitchFamily="18" charset="0"/>
              </a:rPr>
              <a:t>number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0 and 1. </a:t>
            </a:r>
            <a:endParaRPr lang="fr-FR" dirty="0">
              <a:solidFill>
                <a:srgbClr val="000000"/>
              </a:solidFill>
              <a:latin typeface="Minion Pro" panose="02040503050306020203" pitchFamily="18" charset="0"/>
            </a:endParaRPr>
          </a:p>
          <a:p>
            <a:r>
              <a:rPr lang="fr-FR" dirty="0">
                <a:solidFill>
                  <a:srgbClr val="000000"/>
                </a:solidFill>
                <a:effectLst/>
                <a:latin typeface="Minion Pro" panose="02040503050306020203" pitchFamily="18" charset="0"/>
              </a:rPr>
              <a:t>The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associated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given</a:t>
            </a:r>
            <a:r>
              <a:rPr lang="fr-FR" dirty="0">
                <a:solidFill>
                  <a:srgbClr val="000000"/>
                </a:solidFill>
                <a:effectLst/>
                <a:latin typeface="Minion Pro" panose="02040503050306020203" pitchFamily="18" charset="0"/>
              </a:rPr>
              <a:t> distance </a:t>
            </a:r>
            <a:r>
              <a:rPr lang="fr-FR" i="1" dirty="0">
                <a:solidFill>
                  <a:srgbClr val="000000"/>
                </a:solidFill>
                <a:effectLst/>
                <a:latin typeface="Minion Pro" panose="02040503050306020203" pitchFamily="18" charset="0"/>
              </a:rPr>
              <a:t>h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proportional</a:t>
            </a:r>
            <a:r>
              <a:rPr lang="fr-FR" dirty="0">
                <a:solidFill>
                  <a:srgbClr val="000000"/>
                </a:solidFill>
                <a:effectLst/>
                <a:latin typeface="Minion Pro" panose="02040503050306020203" pitchFamily="18" charset="0"/>
              </a:rPr>
              <a:t> to </a:t>
            </a:r>
            <a:r>
              <a:rPr lang="fr-FR" i="1" dirty="0" err="1">
                <a:solidFill>
                  <a:srgbClr val="000000"/>
                </a:solidFill>
                <a:effectLst/>
                <a:latin typeface="Minion Pro" panose="02040503050306020203" pitchFamily="18" charset="0"/>
              </a:rPr>
              <a:t>bh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illustrates</a:t>
            </a:r>
            <a:r>
              <a:rPr lang="fr-FR" dirty="0">
                <a:solidFill>
                  <a:srgbClr val="000000"/>
                </a:solidFill>
                <a:effectLst/>
                <a:latin typeface="Minion Pro" panose="02040503050306020203" pitchFamily="18" charset="0"/>
              </a:rPr>
              <a:t> how the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controls</a:t>
            </a:r>
            <a:r>
              <a:rPr lang="fr-FR" dirty="0">
                <a:solidFill>
                  <a:srgbClr val="000000"/>
                </a:solidFill>
                <a:effectLst/>
                <a:latin typeface="Minion Pro" panose="02040503050306020203" pitchFamily="18" charset="0"/>
              </a:rPr>
              <a:t> the influence of </a:t>
            </a:r>
            <a:r>
              <a:rPr lang="fr-FR" i="1" dirty="0">
                <a:solidFill>
                  <a:srgbClr val="000000"/>
                </a:solidFill>
                <a:effectLst/>
                <a:latin typeface="Minion Pro" panose="02040503050306020203" pitchFamily="18" charset="0"/>
              </a:rPr>
              <a:t>h </a:t>
            </a:r>
            <a:r>
              <a:rPr lang="fr-FR" dirty="0">
                <a:solidFill>
                  <a:srgbClr val="000000"/>
                </a:solidFill>
                <a:effectLst/>
                <a:latin typeface="Minion Pro" panose="02040503050306020203" pitchFamily="18" charset="0"/>
              </a:rPr>
              <a:t>on the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for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additional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difference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y </a:t>
            </a:r>
            <a:r>
              <a:rPr lang="fr-FR" dirty="0">
                <a:solidFill>
                  <a:srgbClr val="000000"/>
                </a:solidFill>
                <a:effectLst/>
                <a:latin typeface="Minion Pro" panose="02040503050306020203" pitchFamily="18" charset="0"/>
              </a:rPr>
              <a:t>and </a:t>
            </a:r>
            <a:r>
              <a:rPr lang="fr-FR" i="1" dirty="0">
                <a:solidFill>
                  <a:srgbClr val="000000"/>
                </a:solidFill>
                <a:effectLst/>
                <a:latin typeface="Minion Pro" panose="02040503050306020203" pitchFamily="18" charset="0"/>
              </a:rPr>
              <a:t>x</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multiplied</a:t>
            </a:r>
            <a:r>
              <a:rPr lang="fr-FR" dirty="0">
                <a:solidFill>
                  <a:srgbClr val="000000"/>
                </a:solidFill>
                <a:effectLst/>
                <a:latin typeface="Minion Pro" panose="02040503050306020203" pitchFamily="18" charset="0"/>
              </a:rPr>
              <a:t> by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t>
            </a:r>
          </a:p>
          <a:p>
            <a:r>
              <a:rPr lang="fr-FR" dirty="0" err="1">
                <a:solidFill>
                  <a:srgbClr val="000000"/>
                </a:solidFill>
                <a:effectLst/>
                <a:latin typeface="Minion Pro" panose="02040503050306020203" pitchFamily="18" charset="0"/>
              </a:rPr>
              <a:t>Reducing</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thus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accelerates</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decrease</a:t>
            </a:r>
            <a:r>
              <a:rPr lang="fr-FR" dirty="0">
                <a:solidFill>
                  <a:srgbClr val="000000"/>
                </a:solidFill>
                <a:effectLst/>
                <a:latin typeface="Minion Pro" panose="02040503050306020203" pitchFamily="18" charset="0"/>
              </a:rPr>
              <a:t> of the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for </a:t>
            </a:r>
            <a:r>
              <a:rPr lang="fr-FR" dirty="0" err="1">
                <a:solidFill>
                  <a:srgbClr val="000000"/>
                </a:solidFill>
                <a:effectLst/>
                <a:latin typeface="Minion Pro" panose="02040503050306020203" pitchFamily="18" charset="0"/>
              </a:rPr>
              <a:t>larger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numbers</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differences</a:t>
            </a:r>
            <a:r>
              <a:rPr lang="fr-FR" dirty="0">
                <a:solidFill>
                  <a:srgbClr val="000000"/>
                </a:solidFill>
                <a:effectLst/>
                <a:latin typeface="Minion Pro" panose="02040503050306020203" pitchFamily="18" charset="0"/>
              </a:rPr>
              <a:t>. </a:t>
            </a:r>
          </a:p>
          <a:p>
            <a:r>
              <a:rPr lang="fr-FR" dirty="0" err="1">
                <a:solidFill>
                  <a:srgbClr val="000000"/>
                </a:solidFill>
                <a:effectLst/>
                <a:latin typeface="Minion Pro" panose="02040503050306020203" pitchFamily="18" charset="0"/>
              </a:rPr>
              <a:t>Finally</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haplotypic</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K</a:t>
            </a:r>
            <a:r>
              <a:rPr lang="fr-FR" dirty="0">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y</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X</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b</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of </a:t>
            </a:r>
            <a:r>
              <a:rPr lang="fr-FR" i="1" dirty="0">
                <a:solidFill>
                  <a:srgbClr val="000000"/>
                </a:solidFill>
                <a:effectLst/>
                <a:latin typeface="Minion Pro" panose="02040503050306020203" pitchFamily="18" charset="0"/>
              </a:rPr>
              <a:t>y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respect to </a:t>
            </a:r>
            <a:r>
              <a:rPr lang="fr-FR" i="1" dirty="0">
                <a:solidFill>
                  <a:srgbClr val="000000"/>
                </a:solidFill>
                <a:effectLst/>
                <a:latin typeface="Minion Pro" panose="02040503050306020203" pitchFamily="18" charset="0"/>
              </a:rPr>
              <a:t>X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average</a:t>
            </a:r>
            <a:r>
              <a:rPr lang="fr-FR" dirty="0">
                <a:solidFill>
                  <a:srgbClr val="000000"/>
                </a:solidFill>
                <a:effectLst/>
                <a:latin typeface="Minion Pro" panose="02040503050306020203" pitchFamily="18" charset="0"/>
              </a:rPr>
              <a:t> of the </a:t>
            </a:r>
            <a:r>
              <a:rPr lang="fr-FR" i="1" dirty="0">
                <a:solidFill>
                  <a:srgbClr val="000000"/>
                </a:solidFill>
                <a:effectLst/>
                <a:latin typeface="Minion Pro" panose="02040503050306020203" pitchFamily="18" charset="0"/>
              </a:rPr>
              <a:t>n</a:t>
            </a:r>
            <a:r>
              <a:rPr lang="fr-FR" i="1" dirty="0">
                <a:solidFill>
                  <a:srgbClr val="000000"/>
                </a:solidFill>
                <a:latin typeface="Minion Pro" panose="02040503050306020203" pitchFamily="18" charset="0"/>
              </a:rPr>
              <a:t> </a:t>
            </a:r>
            <a:r>
              <a:rPr lang="fr-FR" dirty="0" err="1">
                <a:solidFill>
                  <a:srgbClr val="000000"/>
                </a:solidFill>
                <a:effectLst/>
                <a:latin typeface="Minion Pro" panose="02040503050306020203" pitchFamily="18" charset="0"/>
              </a:rPr>
              <a:t>densities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associated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the distances </a:t>
            </a:r>
            <a:r>
              <a:rPr lang="fr-FR" dirty="0" err="1">
                <a:solidFill>
                  <a:srgbClr val="000000"/>
                </a:solidFill>
                <a:effectLst/>
                <a:latin typeface="Minion Pro" panose="02040503050306020203" pitchFamily="18" charset="0"/>
              </a:rPr>
              <a:t>from</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y </a:t>
            </a:r>
            <a:r>
              <a:rPr lang="fr-FR" dirty="0">
                <a:solidFill>
                  <a:srgbClr val="000000"/>
                </a:solidFill>
                <a:effectLst/>
                <a:latin typeface="Minion Pro" panose="02040503050306020203" pitchFamily="18" charset="0"/>
              </a:rPr>
              <a:t>to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xi </a:t>
            </a:r>
            <a:r>
              <a:rPr lang="fr-FR" dirty="0">
                <a:solidFill>
                  <a:srgbClr val="000000"/>
                </a:solidFill>
                <a:effectLst/>
                <a:latin typeface="Minion Pro" panose="02040503050306020203" pitchFamily="18" charset="0"/>
              </a:rPr>
              <a:t>in </a:t>
            </a:r>
            <a:r>
              <a:rPr lang="fr-FR" i="1" dirty="0">
                <a:solidFill>
                  <a:srgbClr val="000000"/>
                </a:solidFill>
                <a:effectLst/>
                <a:latin typeface="Minion Pro" panose="02040503050306020203" pitchFamily="18" charset="0"/>
              </a:rPr>
              <a:t>X</a:t>
            </a:r>
            <a:r>
              <a:rPr lang="fr-FR" dirty="0">
                <a:solidFill>
                  <a:srgbClr val="000000"/>
                </a:solidFill>
                <a:effectLst/>
                <a:latin typeface="Minion Pro" panose="02040503050306020203" pitchFamily="18" charset="0"/>
              </a:rPr>
              <a:t>,</a:t>
            </a:r>
          </a:p>
        </p:txBody>
      </p:sp>
      <p:pic>
        <p:nvPicPr>
          <p:cNvPr id="6" name="Image 5">
            <a:extLst>
              <a:ext uri="{FF2B5EF4-FFF2-40B4-BE49-F238E27FC236}">
                <a16:creationId xmlns:a16="http://schemas.microsoft.com/office/drawing/2014/main" id="{0797952D-4F80-D948-85D4-DE97F8907091}"/>
              </a:ext>
            </a:extLst>
          </p:cNvPr>
          <p:cNvPicPr>
            <a:picLocks noChangeAspect="1"/>
          </p:cNvPicPr>
          <p:nvPr/>
        </p:nvPicPr>
        <p:blipFill>
          <a:blip r:embed="rId2"/>
          <a:stretch>
            <a:fillRect/>
          </a:stretch>
        </p:blipFill>
        <p:spPr>
          <a:xfrm>
            <a:off x="6283326" y="6083300"/>
            <a:ext cx="4940300" cy="774700"/>
          </a:xfrm>
          <a:prstGeom prst="rect">
            <a:avLst/>
          </a:prstGeom>
        </p:spPr>
      </p:pic>
    </p:spTree>
    <p:extLst>
      <p:ext uri="{BB962C8B-B14F-4D97-AF65-F5344CB8AC3E}">
        <p14:creationId xmlns:p14="http://schemas.microsoft.com/office/powerpoint/2010/main" val="52066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5F7694-7B6B-BA4E-BAEA-C182560158F9}"/>
              </a:ext>
            </a:extLst>
          </p:cNvPr>
          <p:cNvSpPr/>
          <p:nvPr/>
        </p:nvSpPr>
        <p:spPr>
          <a:xfrm>
            <a:off x="200025" y="707126"/>
            <a:ext cx="11844338" cy="4801314"/>
          </a:xfrm>
          <a:prstGeom prst="rect">
            <a:avLst/>
          </a:prstGeom>
        </p:spPr>
        <p:txBody>
          <a:bodyPr wrap="square">
            <a:spAutoFit/>
          </a:bodyPr>
          <a:lstStyle/>
          <a:p>
            <a:r>
              <a:rPr lang="fr-FR" dirty="0" err="1">
                <a:solidFill>
                  <a:srgbClr val="000000"/>
                </a:solidFill>
                <a:effectLst/>
                <a:latin typeface="Minion Pro" panose="02040503050306020203" pitchFamily="18" charset="0"/>
              </a:rPr>
              <a:t>Because</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dimensionless</a:t>
            </a:r>
            <a:r>
              <a:rPr lang="fr-FR" dirty="0">
                <a:solidFill>
                  <a:srgbClr val="000000"/>
                </a:solidFill>
                <a:effectLst/>
                <a:latin typeface="Minion Pro" panose="02040503050306020203" pitchFamily="18" charset="0"/>
              </a:rPr>
              <a:t> constant, </a:t>
            </a:r>
            <a:r>
              <a:rPr lang="fr-FR" dirty="0" err="1">
                <a:solidFill>
                  <a:srgbClr val="000000"/>
                </a:solidFill>
                <a:effectLst/>
                <a:latin typeface="Minion Pro" panose="02040503050306020203" pitchFamily="18" charset="0"/>
              </a:rPr>
              <a:t>its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choice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not intuitive. </a:t>
            </a:r>
          </a:p>
          <a:p>
            <a:r>
              <a:rPr lang="fr-FR" dirty="0">
                <a:solidFill>
                  <a:srgbClr val="000000"/>
                </a:solidFill>
                <a:effectLst/>
                <a:latin typeface="Minion Pro" panose="02040503050306020203" pitchFamily="18" charset="0"/>
              </a:rPr>
              <a:t>To </a:t>
            </a:r>
            <a:r>
              <a:rPr lang="fr-FR" dirty="0" err="1">
                <a:solidFill>
                  <a:srgbClr val="000000"/>
                </a:solidFill>
                <a:effectLst/>
                <a:latin typeface="Minion Pro" panose="02040503050306020203" pitchFamily="18" charset="0"/>
              </a:rPr>
              <a:t>circumvent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this</a:t>
            </a:r>
            <a:r>
              <a:rPr lang="fr-FR" dirty="0">
                <a:solidFill>
                  <a:srgbClr val="000000"/>
                </a:solidFill>
                <a:effectLst/>
                <a:latin typeface="Minion Pro" panose="02040503050306020203" pitchFamily="18" charset="0"/>
              </a:rPr>
              <a:t> issue,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exploit the existence of a one-to-one </a:t>
            </a:r>
            <a:r>
              <a:rPr lang="fr-FR" dirty="0" err="1">
                <a:solidFill>
                  <a:srgbClr val="000000"/>
                </a:solidFill>
                <a:effectLst/>
                <a:latin typeface="Minion Pro" panose="02040503050306020203" pitchFamily="18" charset="0"/>
              </a:rPr>
              <a:t>relationship</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between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genetic</a:t>
            </a:r>
            <a:r>
              <a:rPr lang="fr-FR" dirty="0">
                <a:solidFill>
                  <a:srgbClr val="000000"/>
                </a:solidFill>
                <a:effectLst/>
                <a:latin typeface="Minion Pro" panose="02040503050306020203" pitchFamily="18" charset="0"/>
              </a:rPr>
              <a:t> distance </a:t>
            </a:r>
            <a:r>
              <a:rPr lang="fr-FR" i="1" dirty="0">
                <a:solidFill>
                  <a:srgbClr val="000000"/>
                </a:solidFill>
                <a:effectLst/>
                <a:latin typeface="Minion Pro" panose="02040503050306020203" pitchFamily="18" charset="0"/>
              </a:rPr>
              <a:t>h </a:t>
            </a:r>
            <a:r>
              <a:rPr lang="fr-FR" dirty="0">
                <a:solidFill>
                  <a:srgbClr val="000000"/>
                </a:solidFill>
                <a:effectLst/>
                <a:latin typeface="Minion Pro" panose="02040503050306020203" pitchFamily="18" charset="0"/>
              </a:rPr>
              <a:t>and the maximum-</a:t>
            </a:r>
            <a:r>
              <a:rPr lang="fr-FR" dirty="0" err="1">
                <a:solidFill>
                  <a:srgbClr val="000000"/>
                </a:solidFill>
                <a:effectLst/>
                <a:latin typeface="Minion Pro" panose="02040503050306020203" pitchFamily="18" charset="0"/>
              </a:rPr>
              <a:t>likelihood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estimate</a:t>
            </a:r>
            <a:r>
              <a:rPr lang="fr-FR" dirty="0">
                <a:solidFill>
                  <a:srgbClr val="000000"/>
                </a:solidFill>
                <a:effectLst/>
                <a:latin typeface="Minion Pro" panose="02040503050306020203" pitchFamily="18" charset="0"/>
              </a:rPr>
              <a:t> of the TMRCA </a:t>
            </a:r>
            <a:r>
              <a:rPr lang="fr-FR" i="1" dirty="0" err="1">
                <a:solidFill>
                  <a:srgbClr val="000000"/>
                </a:solidFill>
                <a:effectLst/>
                <a:latin typeface="Minion Pro" panose="02040503050306020203" pitchFamily="18" charset="0"/>
              </a:rPr>
              <a:t>t</a:t>
            </a:r>
            <a:r>
              <a:rPr lang="fr-FR" i="1"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under</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infinite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alleles</a:t>
            </a:r>
            <a:r>
              <a:rPr lang="fr-FR" dirty="0">
                <a:solidFill>
                  <a:srgbClr val="000000"/>
                </a:solidFill>
                <a:effectLst/>
                <a:latin typeface="Minion Pro" panose="02040503050306020203" pitchFamily="18" charset="0"/>
              </a:rPr>
              <a:t> model (IAM),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assumes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the </a:t>
            </a:r>
            <a:r>
              <a:rPr lang="fr-FR" i="1" dirty="0">
                <a:solidFill>
                  <a:srgbClr val="000000"/>
                </a:solidFill>
                <a:effectLst/>
                <a:latin typeface="Minion Pro" panose="02040503050306020203" pitchFamily="18" charset="0"/>
              </a:rPr>
              <a:t>m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markers lie on a non-</a:t>
            </a:r>
            <a:r>
              <a:rPr lang="fr-FR" dirty="0" err="1">
                <a:solidFill>
                  <a:srgbClr val="000000"/>
                </a:solidFill>
                <a:effectLst/>
                <a:latin typeface="Minion Pro" panose="02040503050306020203" pitchFamily="18" charset="0"/>
              </a:rPr>
              <a:t>recombining</a:t>
            </a:r>
            <a:r>
              <a:rPr lang="fr-FR" dirty="0">
                <a:solidFill>
                  <a:srgbClr val="000000"/>
                </a:solidFill>
                <a:effectLst/>
                <a:latin typeface="Minion Pro" panose="02040503050306020203" pitchFamily="18" charset="0"/>
              </a:rPr>
              <a:t> DNA segment,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they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evolve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independently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common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evolutionary</a:t>
            </a:r>
            <a:r>
              <a:rPr lang="fr-FR" dirty="0">
                <a:solidFill>
                  <a:srgbClr val="000000"/>
                </a:solidFill>
                <a:effectLst/>
                <a:latin typeface="Minion Pro" panose="02040503050306020203" pitchFamily="18" charset="0"/>
              </a:rPr>
              <a:t> rate </a:t>
            </a:r>
            <a:r>
              <a:rPr lang="el-GR" dirty="0">
                <a:solidFill>
                  <a:srgbClr val="000000"/>
                </a:solidFill>
                <a:effectLst/>
                <a:latin typeface="Helvetica" pitchFamily="2" charset="0"/>
              </a:rPr>
              <a:t>μ</a:t>
            </a:r>
            <a:r>
              <a:rPr lang="el-GR" dirty="0">
                <a:solidFill>
                  <a:srgbClr val="000000"/>
                </a:solidFill>
                <a:effectLst/>
                <a:latin typeface="Minion Pro" panose="02040503050306020203" pitchFamily="18" charset="0"/>
              </a:rPr>
              <a:t>, </a:t>
            </a:r>
            <a:r>
              <a:rPr lang="fr-FR" dirty="0">
                <a:solidFill>
                  <a:srgbClr val="000000"/>
                </a:solidFill>
                <a:effectLst/>
                <a:latin typeface="Minion Pro" panose="02040503050306020203" pitchFamily="18" charset="0"/>
              </a:rPr>
              <a:t>and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at </a:t>
            </a:r>
            <a:r>
              <a:rPr lang="fr-FR" dirty="0" err="1">
                <a:solidFill>
                  <a:srgbClr val="000000"/>
                </a:solidFill>
                <a:effectLst/>
                <a:latin typeface="Minion Pro" panose="02040503050306020203" pitchFamily="18" charset="0"/>
              </a:rPr>
              <a:t>most</a:t>
            </a:r>
            <a:r>
              <a:rPr lang="fr-FR" dirty="0">
                <a:solidFill>
                  <a:srgbClr val="000000"/>
                </a:solidFill>
                <a:effectLst/>
                <a:latin typeface="Minion Pro" panose="02040503050306020203" pitchFamily="18" charset="0"/>
              </a:rPr>
              <a:t> one change per marker </a:t>
            </a:r>
            <a:r>
              <a:rPr lang="fr-FR" dirty="0" err="1">
                <a:solidFill>
                  <a:srgbClr val="000000"/>
                </a:solidFill>
                <a:effectLst/>
                <a:latin typeface="Minion Pro" panose="02040503050306020203" pitchFamily="18" charset="0"/>
              </a:rPr>
              <a:t>occurred</a:t>
            </a:r>
            <a:r>
              <a:rPr lang="fr-FR" dirty="0">
                <a:solidFill>
                  <a:srgbClr val="000000"/>
                </a:solidFill>
                <a:effectLst/>
                <a:latin typeface="Minion Pro" panose="02040503050306020203" pitchFamily="18" charset="0"/>
              </a:rPr>
              <a:t> in </a:t>
            </a:r>
            <a:r>
              <a:rPr lang="fr-FR" dirty="0" err="1">
                <a:solidFill>
                  <a:srgbClr val="000000"/>
                </a:solidFill>
                <a:effectLst/>
                <a:latin typeface="Minion Pro" panose="02040503050306020203" pitchFamily="18" charset="0"/>
              </a:rPr>
              <a:t>both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lineages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since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their</a:t>
            </a:r>
            <a:r>
              <a:rPr lang="fr-FR" dirty="0">
                <a:solidFill>
                  <a:srgbClr val="000000"/>
                </a:solidFill>
                <a:effectLst/>
                <a:latin typeface="Minion Pro" panose="02040503050306020203" pitchFamily="18" charset="0"/>
              </a:rPr>
              <a:t> MRCA. </a:t>
            </a:r>
            <a:r>
              <a:rPr lang="fr-FR" dirty="0" err="1">
                <a:solidFill>
                  <a:srgbClr val="000000"/>
                </a:solidFill>
                <a:effectLst/>
                <a:latin typeface="Minion Pro" panose="02040503050306020203" pitchFamily="18" charset="0"/>
              </a:rPr>
              <a:t>Assuming</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a:t>
            </a:r>
            <a:r>
              <a:rPr lang="el-GR" dirty="0">
                <a:solidFill>
                  <a:srgbClr val="000000"/>
                </a:solidFill>
                <a:effectLst/>
                <a:latin typeface="Helvetica" pitchFamily="2" charset="0"/>
              </a:rPr>
              <a:t>μ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known</a:t>
            </a:r>
            <a:r>
              <a:rPr lang="fr-FR" dirty="0">
                <a:solidFill>
                  <a:srgbClr val="000000"/>
                </a:solidFill>
                <a:effectLst/>
                <a:latin typeface="Minion Pro" panose="02040503050306020203" pitchFamily="18" charset="0"/>
              </a:rPr>
              <a:t>, the IAM model </a:t>
            </a:r>
            <a:r>
              <a:rPr lang="fr-FR" dirty="0" err="1">
                <a:solidFill>
                  <a:srgbClr val="000000"/>
                </a:solidFill>
                <a:effectLst/>
                <a:latin typeface="Minion Pro" panose="02040503050306020203" pitchFamily="18" charset="0"/>
              </a:rPr>
              <a:t>allows</a:t>
            </a:r>
            <a:r>
              <a:rPr lang="fr-FR" dirty="0">
                <a:solidFill>
                  <a:srgbClr val="000000"/>
                </a:solidFill>
                <a:effectLst/>
                <a:latin typeface="Minion Pro" panose="02040503050306020203" pitchFamily="18" charset="0"/>
              </a:rPr>
              <a:t> to replace the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more intuitive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parameter</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t</a:t>
            </a:r>
            <a:r>
              <a:rPr lang="fr-FR" dirty="0">
                <a:solidFill>
                  <a:srgbClr val="000000"/>
                </a:solidFill>
                <a:effectLst/>
                <a:latin typeface="Minion Pro" panose="02040503050306020203" pitchFamily="18" charset="0"/>
              </a:rPr>
              <a:t>50, or tMRCA50,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the TMRCA </a:t>
            </a:r>
            <a:r>
              <a:rPr lang="fr-FR" dirty="0" err="1">
                <a:solidFill>
                  <a:srgbClr val="000000"/>
                </a:solidFill>
                <a:effectLst/>
                <a:latin typeface="Minion Pro" panose="02040503050306020203" pitchFamily="18" charset="0"/>
              </a:rPr>
              <a:t>such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shorter</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TMRCAs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account</a:t>
            </a:r>
            <a:r>
              <a:rPr lang="fr-FR" dirty="0">
                <a:solidFill>
                  <a:srgbClr val="000000"/>
                </a:solidFill>
                <a:effectLst/>
                <a:latin typeface="Minion Pro" panose="02040503050306020203" pitchFamily="18" charset="0"/>
              </a:rPr>
              <a:t> for 50% of the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Practically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solve</a:t>
            </a:r>
            <a:r>
              <a:rPr lang="fr-FR" dirty="0">
                <a:solidFill>
                  <a:srgbClr val="000000"/>
                </a:solidFill>
                <a:effectLst/>
                <a:latin typeface="Minion Pro" panose="02040503050306020203" pitchFamily="18" charset="0"/>
              </a:rPr>
              <a:t> the IAM model relation </a:t>
            </a:r>
            <a:r>
              <a:rPr lang="fr-FR" i="1" dirty="0" err="1">
                <a:solidFill>
                  <a:srgbClr val="000000"/>
                </a:solidFill>
                <a:effectLst/>
                <a:latin typeface="Minion Pro" panose="02040503050306020203" pitchFamily="18" charset="0"/>
              </a:rPr>
              <a:t>t</a:t>
            </a:r>
            <a:r>
              <a:rPr lang="fr-FR" i="1" dirty="0">
                <a:solidFill>
                  <a:srgbClr val="000000"/>
                </a:solidFill>
                <a:effectLst/>
                <a:latin typeface="Minion Pro" panose="02040503050306020203" pitchFamily="18" charset="0"/>
              </a:rPr>
              <a:t> </a:t>
            </a:r>
            <a:r>
              <a:rPr lang="fr-FR" dirty="0">
                <a:solidFill>
                  <a:srgbClr val="000000"/>
                </a:solidFill>
                <a:effectLst/>
                <a:latin typeface="Helvetica" pitchFamily="2" charset="0"/>
              </a:rPr>
              <a:t>= </a:t>
            </a:r>
            <a:r>
              <a:rPr lang="fr-FR" dirty="0">
                <a:solidFill>
                  <a:srgbClr val="000000"/>
                </a:solidFill>
                <a:effectLst/>
                <a:latin typeface="Minion Pro" panose="02040503050306020203" pitchFamily="18" charset="0"/>
              </a:rPr>
              <a:t>log[</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m</a:t>
            </a:r>
            <a:r>
              <a:rPr lang="fr-FR" dirty="0" err="1">
                <a:solidFill>
                  <a:srgbClr val="000000"/>
                </a:solidFill>
                <a:effectLst/>
                <a:latin typeface="Helvetica" pitchFamily="2" charset="0"/>
              </a:rPr>
              <a:t>−</a:t>
            </a:r>
            <a:r>
              <a:rPr lang="fr-FR" i="1" dirty="0" err="1">
                <a:solidFill>
                  <a:srgbClr val="000000"/>
                </a:solidFill>
                <a:effectLst/>
                <a:latin typeface="Minion Pro" panose="02040503050306020203" pitchFamily="18" charset="0"/>
              </a:rPr>
              <a:t>h</a:t>
            </a:r>
            <a:r>
              <a:rPr lang="fr-FR" dirty="0">
                <a:solidFill>
                  <a:srgbClr val="000000"/>
                </a:solidFill>
                <a:effectLst/>
                <a:latin typeface="Minion Pro" panose="02040503050306020203" pitchFamily="18" charset="0"/>
              </a:rPr>
              <a:t>)]/2</a:t>
            </a:r>
            <a:r>
              <a:rPr lang="el-GR" dirty="0">
                <a:solidFill>
                  <a:srgbClr val="000000"/>
                </a:solidFill>
                <a:effectLst/>
                <a:latin typeface="Helvetica" pitchFamily="2" charset="0"/>
              </a:rPr>
              <a:t>μ </a:t>
            </a:r>
            <a:r>
              <a:rPr lang="fr-FR" dirty="0">
                <a:solidFill>
                  <a:srgbClr val="000000"/>
                </a:solidFill>
                <a:effectLst/>
                <a:latin typeface="Minion Pro" panose="02040503050306020203" pitchFamily="18" charset="0"/>
              </a:rPr>
              <a:t>for </a:t>
            </a:r>
            <a:r>
              <a:rPr lang="fr-FR" i="1" dirty="0">
                <a:solidFill>
                  <a:srgbClr val="000000"/>
                </a:solidFill>
                <a:effectLst/>
                <a:latin typeface="Minion Pro" panose="02040503050306020203" pitchFamily="18" charset="0"/>
              </a:rPr>
              <a:t>h </a:t>
            </a:r>
            <a:r>
              <a:rPr lang="fr-FR" dirty="0">
                <a:solidFill>
                  <a:srgbClr val="000000"/>
                </a:solidFill>
                <a:effectLst/>
                <a:latin typeface="Minion Pro" panose="02040503050306020203" pitchFamily="18" charset="0"/>
              </a:rPr>
              <a:t>to </a:t>
            </a:r>
            <a:r>
              <a:rPr lang="fr-FR" dirty="0" err="1">
                <a:solidFill>
                  <a:srgbClr val="000000"/>
                </a:solidFill>
                <a:effectLst/>
                <a:latin typeface="Minion Pro" panose="02040503050306020203" pitchFamily="18" charset="0"/>
              </a:rPr>
              <a:t>obtain</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h </a:t>
            </a:r>
            <a:r>
              <a:rPr lang="fr-FR" dirty="0">
                <a:solidFill>
                  <a:srgbClr val="000000"/>
                </a:solidFill>
                <a:effectLst/>
                <a:latin typeface="Helvetica" pitchFamily="2" charset="0"/>
              </a:rPr>
              <a:t>= </a:t>
            </a:r>
            <a:r>
              <a:rPr lang="fr-FR" dirty="0">
                <a:solidFill>
                  <a:srgbClr val="000000"/>
                </a:solidFill>
                <a:effectLst/>
                <a:latin typeface="Minion Pro" panose="02040503050306020203" pitchFamily="18" charset="0"/>
              </a:rPr>
              <a:t>(1</a:t>
            </a:r>
            <a:r>
              <a:rPr lang="fr-FR" dirty="0">
                <a:solidFill>
                  <a:srgbClr val="000000"/>
                </a:solidFill>
                <a:effectLst/>
                <a:latin typeface="Helvetica" pitchFamily="2" charset="0"/>
              </a:rPr>
              <a:t>−</a:t>
            </a:r>
            <a:r>
              <a:rPr lang="fr-FR" i="1" dirty="0">
                <a:solidFill>
                  <a:srgbClr val="000000"/>
                </a:solidFill>
                <a:effectLst/>
                <a:latin typeface="Minion Pro" panose="02040503050306020203" pitchFamily="18" charset="0"/>
              </a:rPr>
              <a:t>e</a:t>
            </a:r>
            <a:r>
              <a:rPr lang="fr-FR" dirty="0">
                <a:solidFill>
                  <a:srgbClr val="000000"/>
                </a:solidFill>
                <a:effectLst/>
                <a:latin typeface="Helvetica" pitchFamily="2" charset="0"/>
              </a:rPr>
              <a:t>−</a:t>
            </a:r>
            <a:r>
              <a:rPr lang="fr-FR" dirty="0">
                <a:solidFill>
                  <a:srgbClr val="000000"/>
                </a:solidFill>
                <a:effectLst/>
                <a:latin typeface="Minion Pro" panose="02040503050306020203" pitchFamily="18" charset="0"/>
              </a:rPr>
              <a:t>2</a:t>
            </a:r>
            <a:r>
              <a:rPr lang="el-GR" dirty="0">
                <a:solidFill>
                  <a:srgbClr val="000000"/>
                </a:solidFill>
                <a:effectLst/>
                <a:latin typeface="Helvetica" pitchFamily="2" charset="0"/>
              </a:rPr>
              <a:t>μ</a:t>
            </a:r>
            <a:r>
              <a:rPr lang="fr-FR" i="1" dirty="0" err="1">
                <a:solidFill>
                  <a:srgbClr val="000000"/>
                </a:solidFill>
                <a:effectLst/>
                <a:latin typeface="Minion Pro" panose="02040503050306020203" pitchFamily="18" charset="0"/>
              </a:rPr>
              <a:t>t</a:t>
            </a:r>
            <a:r>
              <a:rPr lang="fr-FR" dirty="0">
                <a:solidFill>
                  <a:srgbClr val="000000"/>
                </a:solidFill>
                <a:effectLst/>
                <a:latin typeface="Minion Pro" panose="02040503050306020203" pitchFamily="18" charset="0"/>
              </a:rPr>
              <a:t>)</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This relation </a:t>
            </a:r>
            <a:r>
              <a:rPr lang="fr-FR" dirty="0" err="1">
                <a:solidFill>
                  <a:srgbClr val="000000"/>
                </a:solidFill>
                <a:effectLst/>
                <a:latin typeface="Minion Pro" panose="02040503050306020203" pitchFamily="18" charset="0"/>
              </a:rPr>
              <a:t>allows</a:t>
            </a:r>
            <a:r>
              <a:rPr lang="fr-FR" dirty="0">
                <a:solidFill>
                  <a:srgbClr val="000000"/>
                </a:solidFill>
                <a:effectLst/>
                <a:latin typeface="Minion Pro" panose="02040503050306020203" pitchFamily="18" charset="0"/>
              </a:rPr>
              <a:t> to </a:t>
            </a:r>
            <a:r>
              <a:rPr lang="fr-FR" dirty="0" err="1">
                <a:solidFill>
                  <a:srgbClr val="000000"/>
                </a:solidFill>
                <a:effectLst/>
                <a:latin typeface="Minion Pro" panose="02040503050306020203" pitchFamily="18" charset="0"/>
              </a:rPr>
              <a:t>associate</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possibly</a:t>
            </a:r>
            <a:r>
              <a:rPr lang="fr-FR" dirty="0">
                <a:solidFill>
                  <a:srgbClr val="000000"/>
                </a:solidFill>
                <a:effectLst/>
                <a:latin typeface="Minion Pro" panose="02040503050306020203" pitchFamily="18" charset="0"/>
              </a:rPr>
              <a:t> non-</a:t>
            </a:r>
            <a:r>
              <a:rPr lang="fr-FR" dirty="0" err="1">
                <a:solidFill>
                  <a:srgbClr val="000000"/>
                </a:solidFill>
                <a:effectLst/>
                <a:latin typeface="Minion Pro" panose="02040503050306020203" pitchFamily="18" charset="0"/>
              </a:rPr>
              <a:t>integer</a:t>
            </a:r>
            <a:r>
              <a:rPr lang="fr-FR" dirty="0">
                <a:solidFill>
                  <a:srgbClr val="000000"/>
                </a:solidFill>
                <a:effectLst/>
                <a:latin typeface="Minion Pro" panose="02040503050306020203" pitchFamily="18" charset="0"/>
              </a:rPr>
              <a:t>-</a:t>
            </a:r>
            <a:r>
              <a:rPr lang="fr-FR" dirty="0" err="1">
                <a:solidFill>
                  <a:srgbClr val="000000"/>
                </a:solidFill>
                <a:effectLst/>
                <a:latin typeface="Minion Pro" panose="02040503050306020203" pitchFamily="18" charset="0"/>
              </a:rPr>
              <a:t>valued</a:t>
            </a:r>
            <a:r>
              <a:rPr lang="fr-FR" dirty="0">
                <a:solidFill>
                  <a:srgbClr val="000000"/>
                </a:solidFill>
                <a:effectLst/>
                <a:latin typeface="Minion Pro" panose="02040503050306020203" pitchFamily="18" charset="0"/>
              </a:rPr>
              <a:t>) distance </a:t>
            </a:r>
            <a:r>
              <a:rPr lang="fr-FR" i="1" dirty="0">
                <a:solidFill>
                  <a:srgbClr val="000000"/>
                </a:solidFill>
                <a:effectLst/>
                <a:latin typeface="Minion Pro" panose="02040503050306020203" pitchFamily="18" charset="0"/>
              </a:rPr>
              <a:t>h</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chosen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t</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From</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definition</a:t>
            </a:r>
            <a:r>
              <a:rPr lang="fr-FR" dirty="0">
                <a:solidFill>
                  <a:srgbClr val="000000"/>
                </a:solidFill>
                <a:effectLst/>
                <a:latin typeface="Minion Pro" panose="02040503050306020203" pitchFamily="18" charset="0"/>
              </a:rPr>
              <a:t> of </a:t>
            </a:r>
            <a:r>
              <a:rPr lang="fr-FR" i="1" dirty="0">
                <a:solidFill>
                  <a:srgbClr val="000000"/>
                </a:solidFill>
                <a:effectLst/>
                <a:latin typeface="Minion Pro" panose="02040503050306020203" pitchFamily="18" charset="0"/>
              </a:rPr>
              <a:t>t</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it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follows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h</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median</a:t>
            </a:r>
            <a:r>
              <a:rPr lang="fr-FR" dirty="0">
                <a:solidFill>
                  <a:srgbClr val="000000"/>
                </a:solidFill>
                <a:effectLst/>
                <a:latin typeface="Minion Pro" panose="02040503050306020203" pitchFamily="18" charset="0"/>
              </a:rPr>
              <a:t> of a </a:t>
            </a:r>
            <a:r>
              <a:rPr lang="fr-FR" dirty="0" err="1">
                <a:solidFill>
                  <a:srgbClr val="000000"/>
                </a:solidFill>
                <a:effectLst/>
                <a:latin typeface="Minion Pro" panose="02040503050306020203" pitchFamily="18" charset="0"/>
              </a:rPr>
              <a:t>truncated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a:t>
            </a:r>
            <a:r>
              <a:rPr lang="fr-FR" dirty="0" err="1">
                <a:solidFill>
                  <a:srgbClr val="000000"/>
                </a:solidFill>
                <a:effectLst/>
                <a:latin typeface="Minion Pro" panose="02040503050306020203" pitchFamily="18" charset="0"/>
              </a:rPr>
              <a:t>whose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bandwith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must </a:t>
            </a:r>
            <a:r>
              <a:rPr lang="fr-FR" dirty="0" err="1">
                <a:solidFill>
                  <a:srgbClr val="000000"/>
                </a:solidFill>
                <a:effectLst/>
                <a:latin typeface="Minion Pro" panose="02040503050306020203" pitchFamily="18" charset="0"/>
              </a:rPr>
              <a:t>be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determined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From</a:t>
            </a:r>
            <a:r>
              <a:rPr lang="fr-FR" dirty="0">
                <a:solidFill>
                  <a:srgbClr val="000000"/>
                </a:solidFill>
                <a:effectLst/>
                <a:latin typeface="Minion Pro" panose="02040503050306020203" pitchFamily="18" charset="0"/>
              </a:rPr>
              <a:t> the cumulative </a:t>
            </a:r>
            <a:r>
              <a:rPr lang="fr-FR" dirty="0" err="1">
                <a:solidFill>
                  <a:srgbClr val="000000"/>
                </a:solidFill>
                <a:effectLst/>
                <a:latin typeface="Minion Pro" panose="02040503050306020203" pitchFamily="18" charset="0"/>
              </a:rPr>
              <a:t>probability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function</a:t>
            </a:r>
            <a:r>
              <a:rPr lang="fr-FR" dirty="0">
                <a:solidFill>
                  <a:srgbClr val="000000"/>
                </a:solidFill>
                <a:effectLst/>
                <a:latin typeface="Minion Pro" panose="02040503050306020203" pitchFamily="18" charset="0"/>
              </a:rPr>
              <a:t> of the </a:t>
            </a:r>
            <a:r>
              <a:rPr lang="fr-FR" dirty="0" err="1">
                <a:solidFill>
                  <a:srgbClr val="000000"/>
                </a:solidFill>
                <a:effectLst/>
                <a:latin typeface="Minion Pro" panose="02040503050306020203" pitchFamily="18" charset="0"/>
              </a:rPr>
              <a:t>truncated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parameters</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 </a:t>
            </a:r>
            <a:r>
              <a:rPr lang="fr-FR" dirty="0">
                <a:solidFill>
                  <a:srgbClr val="000000"/>
                </a:solidFill>
                <a:effectLst/>
                <a:latin typeface="Minion Pro" panose="02040503050306020203" pitchFamily="18" charset="0"/>
              </a:rPr>
              <a:t>and </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P</a:t>
            </a:r>
            <a:r>
              <a:rPr lang="fr-FR" dirty="0">
                <a:solidFill>
                  <a:srgbClr val="000000"/>
                </a:solidFill>
                <a:effectLst/>
                <a:latin typeface="Minion Pro" panose="02040503050306020203" pitchFamily="18" charset="0"/>
              </a:rPr>
              <a:t>(</a:t>
            </a:r>
            <a:r>
              <a:rPr lang="fr-FR" i="1" dirty="0">
                <a:solidFill>
                  <a:srgbClr val="000000"/>
                </a:solidFill>
                <a:effectLst/>
                <a:latin typeface="Minion Pro" panose="02040503050306020203" pitchFamily="18" charset="0"/>
              </a:rPr>
              <a:t>H </a:t>
            </a:r>
            <a:r>
              <a:rPr lang="fr-FR" dirty="0">
                <a:solidFill>
                  <a:srgbClr val="000000"/>
                </a:solidFill>
                <a:effectLst/>
                <a:latin typeface="Helvetica" pitchFamily="2" charset="0"/>
              </a:rPr>
              <a:t>≤ </a:t>
            </a:r>
            <a:r>
              <a:rPr lang="fr-FR" i="1" dirty="0" err="1">
                <a:solidFill>
                  <a:srgbClr val="000000"/>
                </a:solidFill>
                <a:effectLst/>
                <a:latin typeface="Minion Pro" panose="02040503050306020203" pitchFamily="18" charset="0"/>
              </a:rPr>
              <a:t>h</a:t>
            </a:r>
            <a:r>
              <a:rPr lang="fr-FR" dirty="0" err="1">
                <a:solidFill>
                  <a:srgbClr val="000000"/>
                </a:solidFill>
                <a:effectLst/>
                <a:latin typeface="Minion Pro" panose="02040503050306020203" pitchFamily="18" charset="0"/>
              </a:rPr>
              <a:t>|</a:t>
            </a:r>
            <a:r>
              <a:rPr lang="fr-FR" i="1" dirty="0" err="1">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 </a:t>
            </a:r>
            <a:r>
              <a:rPr lang="fr-FR" dirty="0">
                <a:solidFill>
                  <a:srgbClr val="000000"/>
                </a:solidFill>
                <a:effectLst/>
                <a:latin typeface="Helvetica" pitchFamily="2" charset="0"/>
              </a:rPr>
              <a:t>= </a:t>
            </a:r>
            <a:r>
              <a:rPr lang="fr-FR" dirty="0">
                <a:solidFill>
                  <a:srgbClr val="000000"/>
                </a:solidFill>
                <a:effectLst/>
                <a:latin typeface="Minion Pro" panose="02040503050306020203" pitchFamily="18" charset="0"/>
              </a:rPr>
              <a:t>1 </a:t>
            </a:r>
            <a:r>
              <a:rPr lang="fr-FR" dirty="0">
                <a:solidFill>
                  <a:srgbClr val="000000"/>
                </a:solidFill>
                <a:effectLst/>
                <a:latin typeface="Helvetica" pitchFamily="2" charset="0"/>
              </a:rPr>
              <a:t>− </a:t>
            </a:r>
            <a:r>
              <a:rPr lang="fr-FR" i="1" dirty="0" err="1">
                <a:solidFill>
                  <a:srgbClr val="000000"/>
                </a:solidFill>
                <a:effectLst/>
                <a:latin typeface="Minion Pro" panose="02040503050306020203" pitchFamily="18" charset="0"/>
              </a:rPr>
              <a:t>bmh</a:t>
            </a:r>
            <a:r>
              <a:rPr lang="fr-FR" i="1" dirty="0">
                <a:solidFill>
                  <a:srgbClr val="000000"/>
                </a:solidFill>
                <a:effectLst/>
                <a:latin typeface="Minion Pro" panose="02040503050306020203" pitchFamily="18" charset="0"/>
              </a:rPr>
              <a:t> </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it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follows</a:t>
            </a:r>
            <a:r>
              <a:rPr lang="fr-FR" dirty="0">
                <a:solidFill>
                  <a:srgbClr val="000000"/>
                </a:solidFill>
                <a:effectLst/>
                <a:latin typeface="Minion Pro" panose="02040503050306020203" pitchFamily="18" charset="0"/>
              </a:rPr>
              <a:t> 1</a:t>
            </a:r>
            <a:r>
              <a:rPr lang="fr-FR" dirty="0">
                <a:solidFill>
                  <a:srgbClr val="000000"/>
                </a:solidFill>
                <a:effectLst/>
                <a:latin typeface="Helvetica" pitchFamily="2" charset="0"/>
              </a:rPr>
              <a:t>−</a:t>
            </a:r>
            <a:r>
              <a:rPr lang="fr-FR" i="1" dirty="0">
                <a:solidFill>
                  <a:srgbClr val="000000"/>
                </a:solidFill>
                <a:effectLst/>
                <a:latin typeface="Minion Pro" panose="02040503050306020203" pitchFamily="18" charset="0"/>
              </a:rPr>
              <a:t>b</a:t>
            </a:r>
            <a:r>
              <a:rPr lang="fr-FR" i="1" dirty="0">
                <a:solidFill>
                  <a:srgbClr val="000000"/>
                </a:solidFill>
                <a:latin typeface="Minion Pro" panose="02040503050306020203" pitchFamily="18" charset="0"/>
              </a:rPr>
              <a:t> </a:t>
            </a:r>
            <a:r>
              <a:rPr lang="fr-FR" dirty="0" err="1">
                <a:solidFill>
                  <a:srgbClr val="000000"/>
                </a:solidFill>
                <a:effectLst/>
                <a:latin typeface="Minion Pro" panose="02040503050306020203" pitchFamily="18" charset="0"/>
              </a:rPr>
              <a:t>that</a:t>
            </a:r>
            <a:r>
              <a:rPr lang="fr-FR" dirty="0">
                <a:solidFill>
                  <a:srgbClr val="000000"/>
                </a:solidFill>
                <a:effectLst/>
                <a:latin typeface="Minion Pro" panose="02040503050306020203" pitchFamily="18" charset="0"/>
              </a:rPr>
              <a:t> if </a:t>
            </a:r>
            <a:r>
              <a:rPr lang="fr-FR" i="1" dirty="0">
                <a:solidFill>
                  <a:srgbClr val="000000"/>
                </a:solidFill>
                <a:effectLst/>
                <a:latin typeface="Minion Pro" panose="02040503050306020203" pitchFamily="18" charset="0"/>
              </a:rPr>
              <a:t>h</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is</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median</a:t>
            </a:r>
            <a:r>
              <a:rPr lang="fr-FR" dirty="0">
                <a:solidFill>
                  <a:srgbClr val="000000"/>
                </a:solidFill>
                <a:effectLst/>
                <a:latin typeface="Minion Pro" panose="02040503050306020203" pitchFamily="18" charset="0"/>
              </a:rPr>
              <a:t> of the </a:t>
            </a:r>
            <a:r>
              <a:rPr lang="fr-FR" dirty="0" err="1">
                <a:solidFill>
                  <a:srgbClr val="000000"/>
                </a:solidFill>
                <a:effectLst/>
                <a:latin typeface="Minion Pro" panose="02040503050306020203" pitchFamily="18" charset="0"/>
              </a:rPr>
              <a:t>continuous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form</a:t>
            </a:r>
            <a:r>
              <a:rPr lang="fr-FR" dirty="0">
                <a:solidFill>
                  <a:srgbClr val="000000"/>
                </a:solidFill>
                <a:effectLst/>
                <a:latin typeface="Minion Pro" panose="02040503050306020203" pitchFamily="18" charset="0"/>
              </a:rPr>
              <a:t> of the distribution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then</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must </a:t>
            </a:r>
            <a:r>
              <a:rPr lang="fr-FR" dirty="0" err="1">
                <a:solidFill>
                  <a:srgbClr val="000000"/>
                </a:solidFill>
                <a:effectLst/>
                <a:latin typeface="Minion Pro" panose="02040503050306020203" pitchFamily="18" charset="0"/>
              </a:rPr>
              <a:t>satisfy</a:t>
            </a:r>
            <a:r>
              <a:rPr lang="fr-FR" dirty="0">
                <a:solidFill>
                  <a:srgbClr val="000000"/>
                </a:solidFill>
                <a:effectLst/>
                <a:latin typeface="Minion Pro" panose="02040503050306020203" pitchFamily="18" charset="0"/>
              </a:rPr>
              <a:t> 1 </a:t>
            </a:r>
            <a:r>
              <a:rPr lang="fr-FR" dirty="0">
                <a:solidFill>
                  <a:srgbClr val="000000"/>
                </a:solidFill>
                <a:effectLst/>
                <a:latin typeface="Helvetica" pitchFamily="2"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STIXGeneral" pitchFamily="2" charset="2"/>
              </a:rPr>
              <a:t>⁎ </a:t>
            </a:r>
            <a:r>
              <a:rPr lang="fr-FR" i="1" dirty="0">
                <a:solidFill>
                  <a:srgbClr val="000000"/>
                </a:solidFill>
                <a:effectLst/>
                <a:latin typeface="Minion Pro" panose="02040503050306020203" pitchFamily="18" charset="0"/>
              </a:rPr>
              <a:t>hm</a:t>
            </a:r>
            <a:r>
              <a:rPr lang="fr-FR" dirty="0">
                <a:solidFill>
                  <a:srgbClr val="000000"/>
                </a:solidFill>
                <a:effectLst/>
                <a:latin typeface="Minion Pro" panose="02040503050306020203" pitchFamily="18" charset="0"/>
              </a:rPr>
              <a:t>50 </a:t>
            </a:r>
            <a:r>
              <a:rPr lang="fr-FR" dirty="0">
                <a:solidFill>
                  <a:srgbClr val="000000"/>
                </a:solidFill>
                <a:effectLst/>
                <a:latin typeface="Helvetica" pitchFamily="2" charset="0"/>
              </a:rPr>
              <a:t>= </a:t>
            </a:r>
            <a:r>
              <a:rPr lang="fr-FR" dirty="0">
                <a:solidFill>
                  <a:srgbClr val="000000"/>
                </a:solidFill>
                <a:effectLst/>
                <a:latin typeface="Minion Pro" panose="02040503050306020203" pitchFamily="18" charset="0"/>
              </a:rPr>
              <a:t>1 , an </a:t>
            </a:r>
            <a:r>
              <a:rPr lang="fr-FR" dirty="0" err="1">
                <a:solidFill>
                  <a:srgbClr val="000000"/>
                </a:solidFill>
                <a:effectLst/>
                <a:latin typeface="Minion Pro" panose="02040503050306020203" pitchFamily="18" charset="0"/>
              </a:rPr>
              <a:t>equation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which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can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solve</a:t>
            </a:r>
            <a:r>
              <a:rPr lang="fr-FR" dirty="0">
                <a:solidFill>
                  <a:srgbClr val="000000"/>
                </a:solidFill>
                <a:effectLst/>
                <a:latin typeface="Minion Pro" panose="02040503050306020203" pitchFamily="18" charset="0"/>
              </a:rPr>
              <a:t> for </a:t>
            </a:r>
            <a:r>
              <a:rPr lang="fr-FR" i="1" dirty="0">
                <a:solidFill>
                  <a:srgbClr val="000000"/>
                </a:solidFill>
                <a:effectLst/>
                <a:latin typeface="Minion Pro" panose="02040503050306020203" pitchFamily="18" charset="0"/>
              </a:rPr>
              <a:t>b* </a:t>
            </a:r>
            <a:r>
              <a:rPr lang="fr-FR" dirty="0" err="1">
                <a:solidFill>
                  <a:srgbClr val="000000"/>
                </a:solidFill>
                <a:effectLst/>
                <a:latin typeface="Minion Pro" panose="02040503050306020203" pitchFamily="18" charset="0"/>
              </a:rPr>
              <a:t>numerically</a:t>
            </a:r>
            <a:r>
              <a:rPr lang="fr-FR" dirty="0">
                <a:solidFill>
                  <a:srgbClr val="000000"/>
                </a:solidFill>
                <a:effectLst/>
                <a:latin typeface="Minion Pro" panose="02040503050306020203" pitchFamily="18" charset="0"/>
              </a:rPr>
              <a:t> (as no </a:t>
            </a:r>
            <a:r>
              <a:rPr lang="fr-FR" dirty="0" err="1">
                <a:solidFill>
                  <a:srgbClr val="000000"/>
                </a:solidFill>
                <a:effectLst/>
                <a:latin typeface="Minion Pro" panose="02040503050306020203" pitchFamily="18" charset="0"/>
              </a:rPr>
              <a:t>closed-form</a:t>
            </a:r>
            <a:r>
              <a:rPr lang="fr-FR" dirty="0">
                <a:solidFill>
                  <a:srgbClr val="000000"/>
                </a:solidFill>
                <a:effectLst/>
                <a:latin typeface="Minion Pro" panose="02040503050306020203" pitchFamily="18" charset="0"/>
              </a:rPr>
              <a:t> solution </a:t>
            </a:r>
            <a:r>
              <a:rPr lang="fr-FR" dirty="0" err="1">
                <a:solidFill>
                  <a:srgbClr val="000000"/>
                </a:solidFill>
                <a:effectLst/>
                <a:latin typeface="Minion Pro" panose="02040503050306020203" pitchFamily="18" charset="0"/>
              </a:rPr>
              <a:t>exists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using</a:t>
            </a:r>
            <a:r>
              <a:rPr lang="fr-FR" dirty="0">
                <a:solidFill>
                  <a:srgbClr val="000000"/>
                </a:solidFill>
                <a:effectLst/>
                <a:latin typeface="Minion Pro" panose="02040503050306020203" pitchFamily="18" charset="0"/>
              </a:rPr>
              <a:t> a 1 </a:t>
            </a:r>
            <a:r>
              <a:rPr lang="fr-FR" dirty="0">
                <a:solidFill>
                  <a:srgbClr val="000000"/>
                </a:solidFill>
                <a:effectLst/>
                <a:latin typeface="Helvetica" pitchFamily="2"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STIXGeneral" pitchFamily="2" charset="2"/>
              </a:rPr>
              <a:t>⁎ </a:t>
            </a:r>
            <a:r>
              <a:rPr lang="fr-FR" dirty="0">
                <a:solidFill>
                  <a:srgbClr val="000000"/>
                </a:solidFill>
                <a:effectLst/>
                <a:latin typeface="Minion Pro" panose="02040503050306020203" pitchFamily="18" charset="0"/>
              </a:rPr>
              <a:t>2 </a:t>
            </a:r>
            <a:r>
              <a:rPr lang="fr-FR" dirty="0" err="1">
                <a:solidFill>
                  <a:srgbClr val="000000"/>
                </a:solidFill>
                <a:effectLst/>
                <a:latin typeface="Minion Pro" panose="02040503050306020203" pitchFamily="18" charset="0"/>
              </a:rPr>
              <a:t>root-finding</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algorithm</a:t>
            </a:r>
            <a:r>
              <a:rPr lang="fr-FR" dirty="0">
                <a:solidFill>
                  <a:srgbClr val="000000"/>
                </a:solidFill>
                <a:effectLst/>
                <a:latin typeface="Minion Pro" panose="02040503050306020203" pitchFamily="18" charset="0"/>
              </a:rPr>
              <a:t> over the [0,1] </a:t>
            </a:r>
            <a:r>
              <a:rPr lang="fr-FR" dirty="0" err="1">
                <a:solidFill>
                  <a:srgbClr val="000000"/>
                </a:solidFill>
                <a:effectLst/>
                <a:latin typeface="Minion Pro" panose="02040503050306020203" pitchFamily="18" charset="0"/>
              </a:rPr>
              <a:t>interval</a:t>
            </a:r>
            <a:r>
              <a:rPr lang="fr-FR" dirty="0">
                <a:solidFill>
                  <a:srgbClr val="000000"/>
                </a:solidFill>
                <a:effectLst/>
                <a:latin typeface="Minion Pro" panose="02040503050306020203" pitchFamily="18" charset="0"/>
              </a:rPr>
              <a:t>.</a:t>
            </a:r>
          </a:p>
          <a:p>
            <a:r>
              <a:rPr lang="fr-FR" dirty="0">
                <a:solidFill>
                  <a:srgbClr val="000000"/>
                </a:solidFill>
                <a:effectLst/>
                <a:latin typeface="Minion Pro" panose="02040503050306020203" pitchFamily="18" charset="0"/>
              </a:rPr>
              <a:t>THD computation </a:t>
            </a:r>
            <a:r>
              <a:rPr lang="fr-FR" dirty="0" err="1">
                <a:solidFill>
                  <a:srgbClr val="000000"/>
                </a:solidFill>
                <a:effectLst/>
                <a:latin typeface="Minion Pro" panose="02040503050306020203" pitchFamily="18" charset="0"/>
              </a:rPr>
              <a:t>steps</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can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summarized</a:t>
            </a:r>
            <a:r>
              <a:rPr lang="fr-FR" dirty="0">
                <a:solidFill>
                  <a:srgbClr val="000000"/>
                </a:solidFill>
                <a:effectLst/>
                <a:latin typeface="Minion Pro" panose="02040503050306020203" pitchFamily="18" charset="0"/>
              </a:rPr>
              <a:t> as </a:t>
            </a:r>
            <a:r>
              <a:rPr lang="fr-FR" dirty="0" err="1">
                <a:solidFill>
                  <a:srgbClr val="000000"/>
                </a:solidFill>
                <a:effectLst/>
                <a:latin typeface="Minion Pro" panose="02040503050306020203" pitchFamily="18" charset="0"/>
              </a:rPr>
              <a:t>follows</a:t>
            </a:r>
            <a:r>
              <a:rPr lang="fr-FR" dirty="0">
                <a:solidFill>
                  <a:srgbClr val="000000"/>
                </a:solidFill>
                <a:effectLst/>
                <a:latin typeface="Minion Pro" panose="02040503050306020203" pitchFamily="18" charset="0"/>
              </a:rPr>
              <a:t>: (i) </a:t>
            </a:r>
            <a:r>
              <a:rPr lang="fr-FR" dirty="0" err="1">
                <a:solidFill>
                  <a:srgbClr val="000000"/>
                </a:solidFill>
                <a:effectLst/>
                <a:latin typeface="Minion Pro" panose="02040503050306020203" pitchFamily="18" charset="0"/>
              </a:rPr>
              <a:t>determine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parameters</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m </a:t>
            </a:r>
            <a:r>
              <a:rPr lang="fr-FR" dirty="0">
                <a:solidFill>
                  <a:srgbClr val="000000"/>
                </a:solidFill>
                <a:effectLst/>
                <a:latin typeface="Minion Pro" panose="02040503050306020203" pitchFamily="18" charset="0"/>
              </a:rPr>
              <a:t>(</a:t>
            </a:r>
            <a:r>
              <a:rPr lang="fr-FR" dirty="0" err="1">
                <a:solidFill>
                  <a:srgbClr val="000000"/>
                </a:solidFill>
                <a:effectLst/>
                <a:latin typeface="Minion Pro" panose="02040503050306020203" pitchFamily="18" charset="0"/>
              </a:rPr>
              <a:t>number</a:t>
            </a:r>
            <a:r>
              <a:rPr lang="fr-FR" dirty="0">
                <a:solidFill>
                  <a:srgbClr val="000000"/>
                </a:solidFill>
                <a:effectLst/>
                <a:latin typeface="Minion Pro" panose="02040503050306020203" pitchFamily="18" charset="0"/>
              </a:rPr>
              <a:t> of markers), </a:t>
            </a:r>
            <a:r>
              <a:rPr lang="el-GR" dirty="0">
                <a:solidFill>
                  <a:srgbClr val="000000"/>
                </a:solidFill>
                <a:effectLst/>
                <a:latin typeface="Helvetica" pitchFamily="2" charset="0"/>
              </a:rPr>
              <a:t>μ </a:t>
            </a:r>
            <a:r>
              <a:rPr lang="el-GR" dirty="0">
                <a:solidFill>
                  <a:srgbClr val="000000"/>
                </a:solidFill>
                <a:effectLst/>
                <a:latin typeface="Minion Pro" panose="02040503050306020203" pitchFamily="18" charset="0"/>
              </a:rPr>
              <a:t>(</a:t>
            </a:r>
            <a:r>
              <a:rPr lang="fr-FR" dirty="0" err="1">
                <a:solidFill>
                  <a:srgbClr val="000000"/>
                </a:solidFill>
                <a:effectLst/>
                <a:latin typeface="Minion Pro" panose="02040503050306020203" pitchFamily="18" charset="0"/>
              </a:rPr>
              <a:t>evolutionary</a:t>
            </a:r>
            <a:r>
              <a:rPr lang="fr-FR" dirty="0">
                <a:solidFill>
                  <a:srgbClr val="000000"/>
                </a:solidFill>
                <a:effectLst/>
                <a:latin typeface="Minion Pro" panose="02040503050306020203" pitchFamily="18" charset="0"/>
              </a:rPr>
              <a:t> rate) and </a:t>
            </a:r>
            <a:r>
              <a:rPr lang="fr-FR" i="1" dirty="0">
                <a:solidFill>
                  <a:srgbClr val="000000"/>
                </a:solidFill>
                <a:effectLst/>
                <a:latin typeface="Minion Pro" panose="02040503050306020203" pitchFamily="18" charset="0"/>
              </a:rPr>
              <a:t>t</a:t>
            </a:r>
            <a:r>
              <a:rPr lang="fr-FR" dirty="0">
                <a:solidFill>
                  <a:srgbClr val="000000"/>
                </a:solidFill>
                <a:effectLst/>
                <a:latin typeface="Minion Pro" panose="02040503050306020203" pitchFamily="18" charset="0"/>
              </a:rPr>
              <a:t>50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(ii) </a:t>
            </a:r>
            <a:r>
              <a:rPr lang="fr-FR" dirty="0" err="1">
                <a:solidFill>
                  <a:srgbClr val="000000"/>
                </a:solidFill>
                <a:effectLst/>
                <a:latin typeface="Minion Pro" panose="02040503050306020203" pitchFamily="18" charset="0"/>
              </a:rPr>
              <a:t>associate</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timescale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 </a:t>
            </a:r>
            <a:r>
              <a:rPr lang="fr-FR" dirty="0" err="1">
                <a:solidFill>
                  <a:srgbClr val="000000"/>
                </a:solidFill>
                <a:effectLst/>
                <a:latin typeface="Minion Pro" panose="02040503050306020203" pitchFamily="18" charset="0"/>
              </a:rPr>
              <a:t>median</a:t>
            </a:r>
            <a:r>
              <a:rPr lang="fr-FR" dirty="0">
                <a:solidFill>
                  <a:srgbClr val="000000"/>
                </a:solidFill>
                <a:effectLst/>
                <a:latin typeface="Minion Pro" panose="02040503050306020203" pitchFamily="18" charset="0"/>
              </a:rPr>
              <a:t> distance </a:t>
            </a:r>
            <a:r>
              <a:rPr lang="fr-FR" i="1" dirty="0">
                <a:solidFill>
                  <a:srgbClr val="000000"/>
                </a:solidFill>
                <a:effectLst/>
                <a:latin typeface="Minion Pro" panose="02040503050306020203" pitchFamily="18" charset="0"/>
              </a:rPr>
              <a:t>h</a:t>
            </a:r>
            <a:r>
              <a:rPr lang="fr-FR" dirty="0">
                <a:solidFill>
                  <a:srgbClr val="000000"/>
                </a:solidFill>
                <a:effectLst/>
                <a:latin typeface="Minion Pro" panose="02040503050306020203" pitchFamily="18" charset="0"/>
              </a:rPr>
              <a:t>50; (iii) </a:t>
            </a:r>
            <a:r>
              <a:rPr lang="fr-FR" dirty="0" err="1">
                <a:solidFill>
                  <a:srgbClr val="000000"/>
                </a:solidFill>
                <a:effectLst/>
                <a:latin typeface="Minion Pro" panose="02040503050306020203" pitchFamily="18" charset="0"/>
              </a:rPr>
              <a:t>determine</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corresponding</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and iv) for </a:t>
            </a:r>
            <a:r>
              <a:rPr lang="fr-FR" dirty="0" err="1">
                <a:solidFill>
                  <a:srgbClr val="000000"/>
                </a:solidFill>
                <a:effectLst/>
                <a:latin typeface="Minion Pro" panose="02040503050306020203" pitchFamily="18" charset="0"/>
              </a:rPr>
              <a:t>each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haplotype</a:t>
            </a:r>
            <a:r>
              <a:rPr lang="fr-FR" dirty="0">
                <a:solidFill>
                  <a:srgbClr val="000000"/>
                </a:solidFill>
                <a:effectLst/>
                <a:latin typeface="Minion Pro" panose="02040503050306020203" pitchFamily="18" charset="0"/>
              </a:rPr>
              <a:t> of </a:t>
            </a:r>
            <a:r>
              <a:rPr lang="fr-FR" dirty="0" err="1">
                <a:solidFill>
                  <a:srgbClr val="000000"/>
                </a:solidFill>
                <a:effectLst/>
                <a:latin typeface="Minion Pro" panose="02040503050306020203" pitchFamily="18" charset="0"/>
              </a:rPr>
              <a:t>interest</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compute</a:t>
            </a:r>
            <a:r>
              <a:rPr lang="fr-FR" dirty="0">
                <a:solidFill>
                  <a:srgbClr val="000000"/>
                </a:solidFill>
                <a:effectLst/>
                <a:latin typeface="Minion Pro" panose="02040503050306020203" pitchFamily="18" charset="0"/>
              </a:rPr>
              <a:t> THD as the </a:t>
            </a:r>
            <a:r>
              <a:rPr lang="fr-FR" dirty="0" err="1">
                <a:solidFill>
                  <a:srgbClr val="000000"/>
                </a:solidFill>
                <a:effectLst/>
                <a:latin typeface="Minion Pro" panose="02040503050306020203" pitchFamily="18" charset="0"/>
              </a:rPr>
              <a:t>average</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kernel</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density</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under</a:t>
            </a:r>
            <a:r>
              <a:rPr lang="fr-FR" dirty="0">
                <a:solidFill>
                  <a:srgbClr val="000000"/>
                </a:solidFill>
                <a:effectLst/>
                <a:latin typeface="Minion Pro" panose="02040503050306020203" pitchFamily="18" charset="0"/>
              </a:rPr>
              <a:t> the </a:t>
            </a:r>
            <a:r>
              <a:rPr lang="fr-FR" dirty="0" err="1">
                <a:solidFill>
                  <a:srgbClr val="000000"/>
                </a:solidFill>
                <a:effectLst/>
                <a:latin typeface="Minion Pro" panose="02040503050306020203" pitchFamily="18" charset="0"/>
              </a:rPr>
              <a:t>truncated</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geometric</a:t>
            </a:r>
            <a:r>
              <a:rPr lang="fr-FR" dirty="0">
                <a:solidFill>
                  <a:srgbClr val="000000"/>
                </a:solidFill>
                <a:effectLst/>
                <a:latin typeface="Minion Pro" panose="02040503050306020203" pitchFamily="18" charset="0"/>
              </a:rPr>
              <a:t> distribution </a:t>
            </a:r>
            <a:r>
              <a:rPr lang="fr-FR" dirty="0" err="1">
                <a:solidFill>
                  <a:srgbClr val="000000"/>
                </a:solidFill>
                <a:effectLst/>
                <a:latin typeface="Minion Pro" panose="02040503050306020203" pitchFamily="18" charset="0"/>
              </a:rPr>
              <a:t>with</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bandwidth</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b</a:t>
            </a:r>
            <a:r>
              <a:rPr lang="fr-FR" dirty="0">
                <a:solidFill>
                  <a:srgbClr val="000000"/>
                </a:solidFill>
                <a:effectLst/>
                <a:latin typeface="Minion Pro" panose="02040503050306020203" pitchFamily="18" charset="0"/>
              </a:rPr>
              <a:t>* and </a:t>
            </a:r>
            <a:r>
              <a:rPr lang="fr-FR" dirty="0" err="1">
                <a:solidFill>
                  <a:srgbClr val="000000"/>
                </a:solidFill>
                <a:effectLst/>
                <a:latin typeface="Minion Pro" panose="02040503050306020203" pitchFamily="18" charset="0"/>
              </a:rPr>
              <a:t>truncation</a:t>
            </a:r>
            <a:r>
              <a:rPr lang="fr-FR" dirty="0">
                <a:solidFill>
                  <a:srgbClr val="000000"/>
                </a:solidFill>
                <a:effectLst/>
                <a:latin typeface="Minion Pro" panose="02040503050306020203" pitchFamily="18" charset="0"/>
              </a:rPr>
              <a:t> </a:t>
            </a:r>
            <a:r>
              <a:rPr lang="fr-FR" dirty="0" err="1">
                <a:solidFill>
                  <a:srgbClr val="000000"/>
                </a:solidFill>
                <a:effectLst/>
                <a:latin typeface="Minion Pro" panose="02040503050306020203" pitchFamily="18" charset="0"/>
              </a:rPr>
              <a:t>limit</a:t>
            </a:r>
            <a:r>
              <a:rPr lang="fr-FR" dirty="0">
                <a:solidFill>
                  <a:srgbClr val="000000"/>
                </a:solidFill>
                <a:effectLst/>
                <a:latin typeface="Minion Pro" panose="02040503050306020203" pitchFamily="18" charset="0"/>
              </a:rPr>
              <a:t> </a:t>
            </a:r>
            <a:r>
              <a:rPr lang="fr-FR" i="1" dirty="0">
                <a:solidFill>
                  <a:srgbClr val="000000"/>
                </a:solidFill>
                <a:effectLst/>
                <a:latin typeface="Minion Pro" panose="02040503050306020203" pitchFamily="18" charset="0"/>
              </a:rPr>
              <a:t>m</a:t>
            </a:r>
            <a:r>
              <a:rPr lang="fr-FR" dirty="0">
                <a:solidFill>
                  <a:srgbClr val="000000"/>
                </a:solidFill>
                <a:effectLst/>
                <a:latin typeface="Minion Pro" panose="02040503050306020203" pitchFamily="18" charset="0"/>
              </a:rPr>
              <a:t>.</a:t>
            </a:r>
          </a:p>
        </p:txBody>
      </p:sp>
    </p:spTree>
    <p:extLst>
      <p:ext uri="{BB962C8B-B14F-4D97-AF65-F5344CB8AC3E}">
        <p14:creationId xmlns:p14="http://schemas.microsoft.com/office/powerpoint/2010/main" val="3500226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6263B5-3B45-6B44-B24D-85D06ADD2AE7}"/>
              </a:ext>
            </a:extLst>
          </p:cNvPr>
          <p:cNvSpPr/>
          <p:nvPr/>
        </p:nvSpPr>
        <p:spPr>
          <a:xfrm>
            <a:off x="0" y="144835"/>
            <a:ext cx="12358688" cy="5632311"/>
          </a:xfrm>
          <a:prstGeom prst="rect">
            <a:avLst/>
          </a:prstGeom>
        </p:spPr>
        <p:txBody>
          <a:bodyPr wrap="square">
            <a:spAutoFit/>
          </a:bodyPr>
          <a:lstStyle/>
          <a:p>
            <a:r>
              <a:rPr lang="fr-FR" b="1" dirty="0"/>
              <a:t>Densité </a:t>
            </a:r>
            <a:r>
              <a:rPr lang="fr-FR" b="1" dirty="0" err="1"/>
              <a:t>haplotypique</a:t>
            </a:r>
            <a:r>
              <a:rPr lang="fr-FR" b="1" dirty="0"/>
              <a:t> échelonnée dans le temps</a:t>
            </a:r>
            <a:r>
              <a:rPr lang="fr-FR" dirty="0"/>
              <a:t>. Nous examinons le problème de l'utilisation de l'estimation de la densité du noyau pour attribuer une mesure de densité à un </a:t>
            </a:r>
            <a:r>
              <a:rPr lang="fr-FR" dirty="0" err="1"/>
              <a:t>haplotype</a:t>
            </a:r>
            <a:r>
              <a:rPr lang="fr-FR" dirty="0"/>
              <a:t>, représenté par un vecteur de marqueurs, par rapport à un ensemble d'autres </a:t>
            </a:r>
            <a:r>
              <a:rPr lang="fr-FR" dirty="0" err="1"/>
              <a:t>haplotypes</a:t>
            </a:r>
            <a:r>
              <a:rPr lang="fr-FR" dirty="0"/>
              <a:t>. Après avoir fourni les définitions nécessaires, nous exposons brièvement la fonction noyau, le calcul de la bande passante sur la base d'un paramètre d'échelle de temps, et nous donnons un aperçu synthétique du calcul du THD. </a:t>
            </a:r>
            <a:r>
              <a:rPr lang="fr-FR" b="1" dirty="0"/>
              <a:t>Le code source de l'implémentation logicielle de ces méthodes pour la plateforme R est disponible dans la note complémentaire</a:t>
            </a:r>
            <a:r>
              <a:rPr lang="fr-FR" dirty="0"/>
              <a:t>.</a:t>
            </a:r>
          </a:p>
          <a:p>
            <a:endParaRPr lang="fr-FR" dirty="0"/>
          </a:p>
          <a:p>
            <a:r>
              <a:rPr lang="fr-FR" dirty="0"/>
              <a:t>Soit X un échantillon de n </a:t>
            </a:r>
            <a:r>
              <a:rPr lang="fr-FR" dirty="0" err="1"/>
              <a:t>haplotypes</a:t>
            </a:r>
            <a:r>
              <a:rPr lang="fr-FR" dirty="0"/>
              <a:t> définis sur m marqueurs, représenté sous la forme d'une matrice de données (</a:t>
            </a:r>
            <a:r>
              <a:rPr lang="fr-FR" dirty="0" err="1"/>
              <a:t>n×m</a:t>
            </a:r>
            <a:r>
              <a:rPr lang="fr-FR" dirty="0"/>
              <a:t>), et soit y un </a:t>
            </a:r>
            <a:r>
              <a:rPr lang="fr-FR" dirty="0" err="1"/>
              <a:t>haplotype</a:t>
            </a:r>
            <a:r>
              <a:rPr lang="fr-FR" dirty="0"/>
              <a:t> intéressant ne figurant pas dans X. </a:t>
            </a:r>
          </a:p>
          <a:p>
            <a:r>
              <a:rPr lang="fr-FR" dirty="0"/>
              <a:t>Pour chaque </a:t>
            </a:r>
            <a:r>
              <a:rPr lang="fr-FR" dirty="0" err="1"/>
              <a:t>haplotype</a:t>
            </a:r>
            <a:r>
              <a:rPr lang="fr-FR" dirty="0"/>
              <a:t> xi dans X, soit hi la distance génétique entre y et xi, c'est-à-dire le nombre de différences entre xi et y</a:t>
            </a:r>
          </a:p>
          <a:p>
            <a:r>
              <a:rPr lang="fr-FR" dirty="0"/>
              <a:t>Une distance génétique h est associée à une densité de noyau (formellement, une probabilité)</a:t>
            </a:r>
          </a:p>
          <a:p>
            <a:r>
              <a:rPr lang="fr-FR" dirty="0"/>
              <a:t>k(</a:t>
            </a:r>
            <a:r>
              <a:rPr lang="fr-FR" dirty="0" err="1"/>
              <a:t>h|b,m</a:t>
            </a:r>
            <a:r>
              <a:rPr lang="fr-FR" dirty="0"/>
              <a:t>) sous la distribution géométrique tronquée avec une largeur de bande b (formellement, la probabilité d'échec d'un essai de Bernoulli) et une densité de noyau tronquée (formellement, la probabilité d'échec d'un essai de Bernoulli) et la limite de troncature </a:t>
            </a:r>
            <a:r>
              <a:rPr lang="fr-FR" i="1" dirty="0"/>
              <a:t>m</a:t>
            </a:r>
            <a:r>
              <a:rPr lang="fr-FR" dirty="0"/>
              <a:t>.</a:t>
            </a:r>
          </a:p>
          <a:p>
            <a:r>
              <a:rPr lang="fr-FR" dirty="0"/>
              <a:t>Cette distribution a une fonction de masse de probabilité k (</a:t>
            </a:r>
            <a:r>
              <a:rPr lang="fr-FR" dirty="0" err="1"/>
              <a:t>h|b</a:t>
            </a:r>
            <a:r>
              <a:rPr lang="fr-FR" dirty="0"/>
              <a:t>, m) = ( 1 - b bh.m+1).</a:t>
            </a:r>
          </a:p>
          <a:p>
            <a:r>
              <a:rPr lang="fr-FR" dirty="0"/>
              <a:t>La largeur de bande b est un nombre réel compris entre 0 et 1.</a:t>
            </a:r>
          </a:p>
          <a:p>
            <a:r>
              <a:rPr lang="fr-FR" dirty="0"/>
              <a:t>La densité associée à une distance h donnée est proportionnelle à </a:t>
            </a:r>
            <a:r>
              <a:rPr lang="fr-FR" dirty="0" err="1"/>
              <a:t>bh</a:t>
            </a:r>
            <a:r>
              <a:rPr lang="fr-FR" dirty="0"/>
              <a:t>, ce qui illustre comment la largeur de bande contrôle l'influence de h sur la densité : pour chaque différence supplémentaire entre y et x, la densité est multipliée par b. </a:t>
            </a:r>
          </a:p>
          <a:p>
            <a:r>
              <a:rPr lang="fr-FR" dirty="0"/>
              <a:t>La réduction de b accélère donc la diminution de la densité pour un plus grand nombre de différences. </a:t>
            </a:r>
          </a:p>
          <a:p>
            <a:r>
              <a:rPr lang="fr-FR" dirty="0"/>
              <a:t>Enfin, la densité </a:t>
            </a:r>
            <a:r>
              <a:rPr lang="fr-FR" dirty="0" err="1"/>
              <a:t>haplotypique</a:t>
            </a:r>
            <a:r>
              <a:rPr lang="fr-FR" dirty="0"/>
              <a:t> K(</a:t>
            </a:r>
            <a:r>
              <a:rPr lang="fr-FR" dirty="0" err="1"/>
              <a:t>y|X,b,m</a:t>
            </a:r>
            <a:r>
              <a:rPr lang="fr-FR" dirty="0"/>
              <a:t>) de y par rapport à X est la moyenne des n densités associées aux distances de y à chaque xi dans X,</a:t>
            </a:r>
          </a:p>
        </p:txBody>
      </p:sp>
      <p:pic>
        <p:nvPicPr>
          <p:cNvPr id="5" name="Image 4">
            <a:extLst>
              <a:ext uri="{FF2B5EF4-FFF2-40B4-BE49-F238E27FC236}">
                <a16:creationId xmlns:a16="http://schemas.microsoft.com/office/drawing/2014/main" id="{8C7A5F47-0AB1-3442-AED8-BE8A0DBFEC80}"/>
              </a:ext>
            </a:extLst>
          </p:cNvPr>
          <p:cNvPicPr>
            <a:picLocks noChangeAspect="1"/>
          </p:cNvPicPr>
          <p:nvPr/>
        </p:nvPicPr>
        <p:blipFill>
          <a:blip r:embed="rId2"/>
          <a:stretch>
            <a:fillRect/>
          </a:stretch>
        </p:blipFill>
        <p:spPr>
          <a:xfrm>
            <a:off x="6283326" y="6083300"/>
            <a:ext cx="4940300" cy="774700"/>
          </a:xfrm>
          <a:prstGeom prst="rect">
            <a:avLst/>
          </a:prstGeom>
        </p:spPr>
      </p:pic>
    </p:spTree>
    <p:extLst>
      <p:ext uri="{BB962C8B-B14F-4D97-AF65-F5344CB8AC3E}">
        <p14:creationId xmlns:p14="http://schemas.microsoft.com/office/powerpoint/2010/main" val="2897959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9A2E29-47E5-9F42-A842-9838B3A5CC25}"/>
              </a:ext>
            </a:extLst>
          </p:cNvPr>
          <p:cNvSpPr/>
          <p:nvPr/>
        </p:nvSpPr>
        <p:spPr>
          <a:xfrm>
            <a:off x="404805" y="305477"/>
            <a:ext cx="11568120" cy="6186309"/>
          </a:xfrm>
          <a:prstGeom prst="rect">
            <a:avLst/>
          </a:prstGeom>
        </p:spPr>
        <p:txBody>
          <a:bodyPr wrap="square">
            <a:spAutoFit/>
          </a:bodyPr>
          <a:lstStyle/>
          <a:p>
            <a:r>
              <a:rPr lang="fr-FR" dirty="0"/>
              <a:t>Comme b est une constante sans dimension, son choix n'est pas intuitif</a:t>
            </a:r>
          </a:p>
          <a:p>
            <a:r>
              <a:rPr lang="fr-FR" dirty="0"/>
              <a:t>Pour contourner ce problème, nous exploitons l'existence d'une relation biunivoque entre la distance génétique h et l'estimation du maximum de vraisemblance de la TMRCA </a:t>
            </a:r>
            <a:r>
              <a:rPr lang="fr-FR" dirty="0" err="1"/>
              <a:t>t</a:t>
            </a:r>
            <a:r>
              <a:rPr lang="fr-FR" dirty="0"/>
              <a:t> dans le cadre du modèle des allèles infinis (IAM), qui suppose que les m marqueurs d'</a:t>
            </a:r>
            <a:r>
              <a:rPr lang="fr-FR" dirty="0" err="1"/>
              <a:t>haplotypes</a:t>
            </a:r>
            <a:r>
              <a:rPr lang="fr-FR" dirty="0"/>
              <a:t> se trouvent sur un segment d'ADN non recombinant, qu'ils évoluent indépendamment avec un taux d'évolution commun </a:t>
            </a:r>
            <a:r>
              <a:rPr lang="el-GR" dirty="0"/>
              <a:t>μ, </a:t>
            </a:r>
            <a:r>
              <a:rPr lang="fr-FR" dirty="0"/>
              <a:t>et qu'au plus un changement par marqueur s'est produit dans les deux lignées depuis leur MRCA.</a:t>
            </a:r>
          </a:p>
          <a:p>
            <a:r>
              <a:rPr lang="fr-FR" dirty="0"/>
              <a:t>En supposant que </a:t>
            </a:r>
            <a:r>
              <a:rPr lang="el-GR" dirty="0"/>
              <a:t>μ </a:t>
            </a:r>
            <a:r>
              <a:rPr lang="fr-FR" dirty="0"/>
              <a:t>soit connu, le modèle IAM permet de remplacer la largeur de bande par un paramètre d'échelle de temps plus intuitif t50, ou tMRCA50, qui est la TMRCA telle que les </a:t>
            </a:r>
            <a:r>
              <a:rPr lang="fr-FR" dirty="0" err="1"/>
              <a:t>haplotypes</a:t>
            </a:r>
            <a:r>
              <a:rPr lang="fr-FR" dirty="0"/>
              <a:t> ayant des TMRCA plus courtes représentent 50 % de la densité.</a:t>
            </a:r>
          </a:p>
          <a:p>
            <a:r>
              <a:rPr lang="fr-FR" dirty="0"/>
              <a:t>En pratique, nous résolvons la relation du modèle IAM </a:t>
            </a:r>
            <a:r>
              <a:rPr lang="fr-FR" dirty="0" err="1"/>
              <a:t>t</a:t>
            </a:r>
            <a:r>
              <a:rPr lang="fr-FR" dirty="0"/>
              <a:t> = log[m/(</a:t>
            </a:r>
            <a:r>
              <a:rPr lang="fr-FR" dirty="0" err="1"/>
              <a:t>m-h</a:t>
            </a:r>
            <a:r>
              <a:rPr lang="fr-FR" dirty="0"/>
              <a:t>)]/2</a:t>
            </a:r>
            <a:r>
              <a:rPr lang="el-GR" dirty="0"/>
              <a:t>μ </a:t>
            </a:r>
            <a:r>
              <a:rPr lang="fr-FR" dirty="0"/>
              <a:t>pour h afin d'obtenir h = (1-e-2</a:t>
            </a:r>
            <a:r>
              <a:rPr lang="el-GR" dirty="0"/>
              <a:t>μ</a:t>
            </a:r>
            <a:r>
              <a:rPr lang="fr-FR" dirty="0" err="1"/>
              <a:t>t</a:t>
            </a:r>
            <a:r>
              <a:rPr lang="fr-FR" dirty="0"/>
              <a:t>)m.</a:t>
            </a:r>
          </a:p>
          <a:p>
            <a:r>
              <a:rPr lang="fr-FR" dirty="0"/>
              <a:t>Cette relation permet d'associer une distance h50 (éventuellement non entière) à l'échelle de temps choisie t50.</a:t>
            </a:r>
          </a:p>
          <a:p>
            <a:r>
              <a:rPr lang="fr-FR" dirty="0"/>
              <a:t>De la définition de t50, il résulte que h50 est la médiane d'une distribution géométrique tronquée dont la bande passante b* doit être déterminée.</a:t>
            </a:r>
          </a:p>
          <a:p>
            <a:r>
              <a:rPr lang="fr-FR" dirty="0"/>
              <a:t>De la fonction de probabilité cumulative de la distribution géométrique tronquée avec les paramètres b et m, P(H ≤ </a:t>
            </a:r>
            <a:r>
              <a:rPr lang="fr-FR" dirty="0" err="1"/>
              <a:t>h|b</a:t>
            </a:r>
            <a:r>
              <a:rPr lang="fr-FR" dirty="0"/>
              <a:t>, m) = 1 - </a:t>
            </a:r>
            <a:r>
              <a:rPr lang="fr-FR" dirty="0" err="1"/>
              <a:t>bmh</a:t>
            </a:r>
            <a:r>
              <a:rPr lang="fr-FR" dirty="0"/>
              <a:t> , il résulte 1-b que si h50 est la médiane de la forme continue de la distribution avec la largeur de bande b*, alors b* doit satisfaire 1 - b⁎ hm50 = 1 , une équation que nous pouvons résoudre numériquement pour b* (puisqu'il n'existe pas de solution de forme fermée) en utilisant un algorithme de recherche de racines 1 - b⁎ 2 sur l'intervalle [0,1].</a:t>
            </a:r>
          </a:p>
          <a:p>
            <a:r>
              <a:rPr lang="fr-FR" dirty="0"/>
              <a:t>Les étapes de calcul du THD peuvent être résumées comme suit : (i) déterminer les paramètres m (nombre de marqueurs), </a:t>
            </a:r>
            <a:r>
              <a:rPr lang="el-GR" dirty="0"/>
              <a:t>μ (</a:t>
            </a:r>
            <a:r>
              <a:rPr lang="fr-FR" dirty="0"/>
              <a:t>taux d'évolution) et t50 (échelle de temps) ; (ii) associer l'échelle de temps à une distance médiane h50 ; (iii) déterminer la largeur de bande correspondante b* ; et iv) pour chaque </a:t>
            </a:r>
            <a:r>
              <a:rPr lang="fr-FR" dirty="0" err="1"/>
              <a:t>haplotype</a:t>
            </a:r>
            <a:r>
              <a:rPr lang="fr-FR"/>
              <a:t> d'intérêt, calculer le THD comme la densité moyenne du noyau sous la distribution géométrique tronquée avec la largeur de bande b* et la limite de troncature m.</a:t>
            </a:r>
            <a:endParaRPr lang="fr-FR" dirty="0"/>
          </a:p>
        </p:txBody>
      </p:sp>
    </p:spTree>
    <p:extLst>
      <p:ext uri="{BB962C8B-B14F-4D97-AF65-F5344CB8AC3E}">
        <p14:creationId xmlns:p14="http://schemas.microsoft.com/office/powerpoint/2010/main" val="4074323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D259AA-45CC-1043-B7E1-2887D5FD12C2}"/>
              </a:ext>
            </a:extLst>
          </p:cNvPr>
          <p:cNvSpPr/>
          <p:nvPr/>
        </p:nvSpPr>
        <p:spPr>
          <a:xfrm>
            <a:off x="768096" y="751344"/>
            <a:ext cx="11082528" cy="3416320"/>
          </a:xfrm>
          <a:prstGeom prst="rect">
            <a:avLst/>
          </a:prstGeom>
        </p:spPr>
        <p:txBody>
          <a:bodyPr wrap="square">
            <a:spAutoFit/>
          </a:bodyPr>
          <a:lstStyle/>
          <a:p>
            <a:r>
              <a:rPr lang="fr-FR" b="1" dirty="0" err="1"/>
              <a:t>Summarizing</a:t>
            </a:r>
            <a:r>
              <a:rPr lang="fr-FR" b="1" dirty="0"/>
              <a:t>, </a:t>
            </a:r>
            <a:r>
              <a:rPr lang="fr-FR" b="1" dirty="0" err="1"/>
              <a:t>scaling</a:t>
            </a:r>
            <a:r>
              <a:rPr lang="fr-FR" b="1" dirty="0"/>
              <a:t> and </a:t>
            </a:r>
            <a:r>
              <a:rPr lang="fr-FR" b="1" dirty="0" err="1"/>
              <a:t>normalizing</a:t>
            </a:r>
            <a:r>
              <a:rPr lang="fr-FR" b="1" dirty="0"/>
              <a:t> THD. </a:t>
            </a:r>
          </a:p>
          <a:p>
            <a:endParaRPr lang="fr-FR" dirty="0"/>
          </a:p>
          <a:p>
            <a:r>
              <a:rPr lang="fr-FR" dirty="0" err="1"/>
              <a:t>Because</a:t>
            </a:r>
            <a:r>
              <a:rPr lang="fr-FR" dirty="0"/>
              <a:t> </a:t>
            </a:r>
            <a:r>
              <a:rPr lang="fr-FR" dirty="0" err="1"/>
              <a:t>THDs</a:t>
            </a:r>
            <a:r>
              <a:rPr lang="fr-FR" dirty="0"/>
              <a:t> are </a:t>
            </a:r>
            <a:r>
              <a:rPr lang="fr-FR" dirty="0" err="1"/>
              <a:t>probabilities</a:t>
            </a:r>
            <a:r>
              <a:rPr lang="fr-FR" dirty="0"/>
              <a:t>, </a:t>
            </a:r>
            <a:r>
              <a:rPr lang="fr-FR" dirty="0" err="1"/>
              <a:t>aggregate</a:t>
            </a:r>
            <a:r>
              <a:rPr lang="fr-FR" dirty="0"/>
              <a:t> </a:t>
            </a:r>
            <a:r>
              <a:rPr lang="fr-FR" dirty="0" err="1"/>
              <a:t>statistics</a:t>
            </a:r>
            <a:r>
              <a:rPr lang="fr-FR" dirty="0"/>
              <a:t> for groups of </a:t>
            </a:r>
            <a:r>
              <a:rPr lang="fr-FR" dirty="0" err="1"/>
              <a:t>isolates</a:t>
            </a:r>
            <a:r>
              <a:rPr lang="fr-FR" dirty="0"/>
              <a:t> </a:t>
            </a:r>
            <a:r>
              <a:rPr lang="fr-FR" dirty="0" err="1"/>
              <a:t>should</a:t>
            </a:r>
            <a:r>
              <a:rPr lang="fr-FR" dirty="0"/>
              <a:t> use </a:t>
            </a:r>
            <a:r>
              <a:rPr lang="fr-FR" dirty="0" err="1"/>
              <a:t>products</a:t>
            </a:r>
            <a:r>
              <a:rPr lang="fr-FR" dirty="0"/>
              <a:t> to </a:t>
            </a:r>
            <a:r>
              <a:rPr lang="fr-FR" dirty="0" err="1"/>
              <a:t>represent</a:t>
            </a:r>
            <a:r>
              <a:rPr lang="fr-FR" dirty="0"/>
              <a:t> the joint </a:t>
            </a:r>
            <a:r>
              <a:rPr lang="fr-FR" dirty="0" err="1"/>
              <a:t>likelihood</a:t>
            </a:r>
            <a:r>
              <a:rPr lang="fr-FR" dirty="0"/>
              <a:t> of </a:t>
            </a:r>
            <a:r>
              <a:rPr lang="fr-FR" dirty="0" err="1"/>
              <a:t>isolates</a:t>
            </a:r>
            <a:r>
              <a:rPr lang="fr-FR" dirty="0"/>
              <a:t> in the group. As a </a:t>
            </a:r>
            <a:r>
              <a:rPr lang="fr-FR" dirty="0" err="1"/>
              <a:t>consequence</a:t>
            </a:r>
            <a:r>
              <a:rPr lang="fr-FR" dirty="0"/>
              <a:t>, </a:t>
            </a:r>
            <a:r>
              <a:rPr lang="fr-FR" dirty="0" err="1"/>
              <a:t>we</a:t>
            </a:r>
            <a:r>
              <a:rPr lang="fr-FR" dirty="0"/>
              <a:t> use </a:t>
            </a:r>
            <a:r>
              <a:rPr lang="fr-FR" dirty="0" err="1"/>
              <a:t>geometric</a:t>
            </a:r>
            <a:r>
              <a:rPr lang="fr-FR" dirty="0"/>
              <a:t> </a:t>
            </a:r>
            <a:r>
              <a:rPr lang="fr-FR" dirty="0" err="1"/>
              <a:t>means</a:t>
            </a:r>
            <a:r>
              <a:rPr lang="fr-FR" dirty="0"/>
              <a:t> </a:t>
            </a:r>
            <a:r>
              <a:rPr lang="fr-FR" dirty="0" err="1"/>
              <a:t>rather</a:t>
            </a:r>
            <a:r>
              <a:rPr lang="fr-FR" dirty="0"/>
              <a:t> </a:t>
            </a:r>
            <a:r>
              <a:rPr lang="fr-FR" dirty="0" err="1"/>
              <a:t>than</a:t>
            </a:r>
            <a:r>
              <a:rPr lang="fr-FR" dirty="0"/>
              <a:t> </a:t>
            </a:r>
            <a:r>
              <a:rPr lang="fr-FR" dirty="0" err="1"/>
              <a:t>arithmetic</a:t>
            </a:r>
            <a:r>
              <a:rPr lang="fr-FR" dirty="0"/>
              <a:t> </a:t>
            </a:r>
            <a:r>
              <a:rPr lang="fr-FR" dirty="0" err="1"/>
              <a:t>means</a:t>
            </a:r>
            <a:r>
              <a:rPr lang="fr-FR" dirty="0"/>
              <a:t>, and </a:t>
            </a:r>
            <a:r>
              <a:rPr lang="fr-FR" dirty="0" err="1"/>
              <a:t>transform</a:t>
            </a:r>
            <a:r>
              <a:rPr lang="fr-FR" dirty="0"/>
              <a:t> </a:t>
            </a:r>
            <a:r>
              <a:rPr lang="fr-FR" dirty="0" err="1"/>
              <a:t>THDs</a:t>
            </a:r>
            <a:r>
              <a:rPr lang="fr-FR" dirty="0"/>
              <a:t> to </a:t>
            </a:r>
            <a:r>
              <a:rPr lang="fr-FR" dirty="0" err="1"/>
              <a:t>logarithms</a:t>
            </a:r>
            <a:r>
              <a:rPr lang="fr-FR" dirty="0"/>
              <a:t> </a:t>
            </a:r>
            <a:r>
              <a:rPr lang="fr-FR" dirty="0" err="1"/>
              <a:t>before</a:t>
            </a:r>
            <a:r>
              <a:rPr lang="fr-FR" dirty="0"/>
              <a:t> inclusion in </a:t>
            </a:r>
            <a:r>
              <a:rPr lang="fr-FR" dirty="0" err="1"/>
              <a:t>linear</a:t>
            </a:r>
            <a:r>
              <a:rPr lang="fr-FR" dirty="0"/>
              <a:t> </a:t>
            </a:r>
            <a:r>
              <a:rPr lang="fr-FR" dirty="0" err="1"/>
              <a:t>models</a:t>
            </a:r>
            <a:r>
              <a:rPr lang="fr-FR" dirty="0"/>
              <a:t>. </a:t>
            </a:r>
            <a:r>
              <a:rPr lang="fr-FR" dirty="0" err="1"/>
              <a:t>Because</a:t>
            </a:r>
            <a:r>
              <a:rPr lang="fr-FR" dirty="0"/>
              <a:t> THD </a:t>
            </a:r>
            <a:r>
              <a:rPr lang="fr-FR" dirty="0" err="1"/>
              <a:t>estimates</a:t>
            </a:r>
            <a:r>
              <a:rPr lang="fr-FR" dirty="0"/>
              <a:t> are </a:t>
            </a:r>
            <a:r>
              <a:rPr lang="fr-FR" dirty="0" err="1"/>
              <a:t>inversely</a:t>
            </a:r>
            <a:r>
              <a:rPr lang="fr-FR" dirty="0"/>
              <a:t> </a:t>
            </a:r>
            <a:r>
              <a:rPr lang="fr-FR" dirty="0" err="1"/>
              <a:t>proportional</a:t>
            </a:r>
            <a:r>
              <a:rPr lang="fr-FR" dirty="0"/>
              <a:t> to the </a:t>
            </a:r>
            <a:r>
              <a:rPr lang="fr-FR" dirty="0" err="1"/>
              <a:t>number</a:t>
            </a:r>
            <a:r>
              <a:rPr lang="fr-FR" dirty="0"/>
              <a:t> of </a:t>
            </a:r>
            <a:r>
              <a:rPr lang="fr-FR" dirty="0" err="1"/>
              <a:t>loci</a:t>
            </a:r>
            <a:r>
              <a:rPr lang="fr-FR" dirty="0"/>
              <a:t> m and </a:t>
            </a:r>
            <a:r>
              <a:rPr lang="fr-FR" dirty="0" err="1"/>
              <a:t>sentitive</a:t>
            </a:r>
            <a:r>
              <a:rPr lang="fr-FR" dirty="0"/>
              <a:t> to the </a:t>
            </a:r>
            <a:r>
              <a:rPr lang="fr-FR" dirty="0" err="1"/>
              <a:t>timescale</a:t>
            </a:r>
            <a:r>
              <a:rPr lang="fr-FR" dirty="0"/>
              <a:t> </a:t>
            </a:r>
            <a:r>
              <a:rPr lang="fr-FR" dirty="0" err="1"/>
              <a:t>we</a:t>
            </a:r>
            <a:r>
              <a:rPr lang="fr-FR" dirty="0"/>
              <a:t> propose </a:t>
            </a:r>
            <a:r>
              <a:rPr lang="fr-FR" dirty="0" err="1"/>
              <a:t>two</a:t>
            </a:r>
            <a:r>
              <a:rPr lang="fr-FR" dirty="0"/>
              <a:t> modifications to </a:t>
            </a:r>
            <a:r>
              <a:rPr lang="fr-FR" dirty="0" err="1"/>
              <a:t>ease</a:t>
            </a:r>
            <a:r>
              <a:rPr lang="fr-FR" dirty="0"/>
              <a:t> </a:t>
            </a:r>
            <a:r>
              <a:rPr lang="fr-FR" dirty="0" err="1"/>
              <a:t>comparability</a:t>
            </a:r>
            <a:r>
              <a:rPr lang="fr-FR" dirty="0"/>
              <a:t>. First, </a:t>
            </a:r>
            <a:r>
              <a:rPr lang="fr-FR" dirty="0" err="1"/>
              <a:t>THDs</a:t>
            </a:r>
            <a:r>
              <a:rPr lang="fr-FR" dirty="0"/>
              <a:t> </a:t>
            </a:r>
            <a:r>
              <a:rPr lang="fr-FR" dirty="0" err="1"/>
              <a:t>can</a:t>
            </a:r>
            <a:r>
              <a:rPr lang="fr-FR" dirty="0"/>
              <a:t> </a:t>
            </a:r>
            <a:r>
              <a:rPr lang="fr-FR" dirty="0" err="1"/>
              <a:t>be</a:t>
            </a:r>
            <a:r>
              <a:rPr lang="fr-FR" dirty="0"/>
              <a:t> </a:t>
            </a:r>
            <a:r>
              <a:rPr lang="fr-FR" dirty="0" err="1"/>
              <a:t>multiplied</a:t>
            </a:r>
            <a:r>
              <a:rPr lang="fr-FR" dirty="0"/>
              <a:t> by the </a:t>
            </a:r>
            <a:r>
              <a:rPr lang="fr-FR" dirty="0" err="1"/>
              <a:t>number</a:t>
            </a:r>
            <a:r>
              <a:rPr lang="fr-FR" dirty="0"/>
              <a:t> of </a:t>
            </a:r>
            <a:r>
              <a:rPr lang="fr-FR" dirty="0" err="1"/>
              <a:t>loci</a:t>
            </a:r>
            <a:r>
              <a:rPr lang="fr-FR" dirty="0"/>
              <a:t>. </a:t>
            </a:r>
            <a:r>
              <a:rPr lang="fr-FR" dirty="0" err="1"/>
              <a:t>These</a:t>
            </a:r>
            <a:r>
              <a:rPr lang="fr-FR" dirty="0"/>
              <a:t> </a:t>
            </a:r>
            <a:r>
              <a:rPr lang="fr-FR" dirty="0" err="1"/>
              <a:t>scaled</a:t>
            </a:r>
            <a:r>
              <a:rPr lang="fr-FR" dirty="0"/>
              <a:t> </a:t>
            </a:r>
            <a:r>
              <a:rPr lang="fr-FR" dirty="0" err="1"/>
              <a:t>THDs</a:t>
            </a:r>
            <a:r>
              <a:rPr lang="fr-FR" dirty="0"/>
              <a:t> are invariant relative to m (Fig. 2 and </a:t>
            </a:r>
            <a:r>
              <a:rPr lang="fr-FR" dirty="0" err="1"/>
              <a:t>Supplementary</a:t>
            </a:r>
            <a:r>
              <a:rPr lang="fr-FR" dirty="0"/>
              <a:t> Fig. S1), </a:t>
            </a:r>
            <a:r>
              <a:rPr lang="fr-FR" dirty="0" err="1"/>
              <a:t>which</a:t>
            </a:r>
            <a:r>
              <a:rPr lang="fr-FR" dirty="0"/>
              <a:t> </a:t>
            </a:r>
            <a:r>
              <a:rPr lang="fr-FR" dirty="0" err="1"/>
              <a:t>might</a:t>
            </a:r>
            <a:r>
              <a:rPr lang="fr-FR" dirty="0"/>
              <a:t> </a:t>
            </a:r>
            <a:r>
              <a:rPr lang="fr-FR" dirty="0" err="1"/>
              <a:t>facilitate</a:t>
            </a:r>
            <a:r>
              <a:rPr lang="fr-FR" dirty="0"/>
              <a:t> </a:t>
            </a:r>
            <a:r>
              <a:rPr lang="fr-FR" dirty="0" err="1"/>
              <a:t>comparison</a:t>
            </a:r>
            <a:r>
              <a:rPr lang="fr-FR" dirty="0"/>
              <a:t> </a:t>
            </a:r>
            <a:r>
              <a:rPr lang="fr-FR" dirty="0" err="1"/>
              <a:t>between</a:t>
            </a:r>
            <a:r>
              <a:rPr lang="fr-FR" dirty="0"/>
              <a:t> </a:t>
            </a:r>
            <a:r>
              <a:rPr lang="fr-FR" dirty="0" err="1"/>
              <a:t>THDs</a:t>
            </a:r>
            <a:r>
              <a:rPr lang="fr-FR" dirty="0"/>
              <a:t> </a:t>
            </a:r>
            <a:r>
              <a:rPr lang="fr-FR" dirty="0" err="1"/>
              <a:t>with</a:t>
            </a:r>
            <a:r>
              <a:rPr lang="fr-FR" dirty="0"/>
              <a:t> </a:t>
            </a:r>
            <a:r>
              <a:rPr lang="fr-FR" dirty="0" err="1"/>
              <a:t>similar</a:t>
            </a:r>
            <a:r>
              <a:rPr lang="fr-FR" dirty="0"/>
              <a:t> </a:t>
            </a:r>
            <a:r>
              <a:rPr lang="fr-FR" dirty="0" err="1"/>
              <a:t>timescale</a:t>
            </a:r>
            <a:r>
              <a:rPr lang="fr-FR" dirty="0"/>
              <a:t> but </a:t>
            </a:r>
            <a:r>
              <a:rPr lang="fr-FR" dirty="0" err="1"/>
              <a:t>obtained</a:t>
            </a:r>
            <a:r>
              <a:rPr lang="fr-FR" dirty="0"/>
              <a:t> </a:t>
            </a:r>
            <a:r>
              <a:rPr lang="fr-FR" dirty="0" err="1"/>
              <a:t>with</a:t>
            </a:r>
            <a:r>
              <a:rPr lang="fr-FR" dirty="0"/>
              <a:t> </a:t>
            </a:r>
            <a:r>
              <a:rPr lang="fr-FR" dirty="0" err="1"/>
              <a:t>different</a:t>
            </a:r>
            <a:r>
              <a:rPr lang="fr-FR" dirty="0"/>
              <a:t> </a:t>
            </a:r>
            <a:r>
              <a:rPr lang="fr-FR" dirty="0" err="1"/>
              <a:t>methods</a:t>
            </a:r>
            <a:r>
              <a:rPr lang="fr-FR" dirty="0"/>
              <a:t>, </a:t>
            </a:r>
            <a:r>
              <a:rPr lang="fr-FR" dirty="0" err="1"/>
              <a:t>e.g</a:t>
            </a:r>
            <a:r>
              <a:rPr lang="fr-FR" dirty="0"/>
              <a:t>. </a:t>
            </a:r>
            <a:r>
              <a:rPr lang="fr-FR" dirty="0" err="1"/>
              <a:t>minisatellite</a:t>
            </a:r>
            <a:r>
              <a:rPr lang="fr-FR" dirty="0"/>
              <a:t> </a:t>
            </a:r>
            <a:r>
              <a:rPr lang="fr-FR" dirty="0" err="1"/>
              <a:t>typing</a:t>
            </a:r>
            <a:r>
              <a:rPr lang="fr-FR" dirty="0"/>
              <a:t> vs. DNA </a:t>
            </a:r>
            <a:r>
              <a:rPr lang="fr-FR" dirty="0" err="1"/>
              <a:t>sequencing</a:t>
            </a:r>
            <a:r>
              <a:rPr lang="fr-FR" dirty="0"/>
              <a:t>. Second, log-</a:t>
            </a:r>
            <a:r>
              <a:rPr lang="fr-FR" dirty="0" err="1"/>
              <a:t>THDs</a:t>
            </a:r>
            <a:r>
              <a:rPr lang="fr-FR" dirty="0"/>
              <a:t> </a:t>
            </a:r>
            <a:r>
              <a:rPr lang="fr-FR" dirty="0" err="1"/>
              <a:t>can</a:t>
            </a:r>
            <a:r>
              <a:rPr lang="fr-FR" dirty="0"/>
              <a:t> </a:t>
            </a:r>
            <a:r>
              <a:rPr lang="fr-FR" dirty="0" err="1"/>
              <a:t>be</a:t>
            </a:r>
            <a:r>
              <a:rPr lang="fr-FR" dirty="0"/>
              <a:t> </a:t>
            </a:r>
            <a:r>
              <a:rPr lang="fr-FR" dirty="0" err="1"/>
              <a:t>centered</a:t>
            </a:r>
            <a:r>
              <a:rPr lang="fr-FR" dirty="0"/>
              <a:t> and </a:t>
            </a:r>
            <a:r>
              <a:rPr lang="fr-FR" dirty="0" err="1"/>
              <a:t>scaled</a:t>
            </a:r>
            <a:r>
              <a:rPr lang="fr-FR" dirty="0"/>
              <a:t> relative to the population </a:t>
            </a:r>
            <a:r>
              <a:rPr lang="fr-FR" dirty="0" err="1"/>
              <a:t>under</a:t>
            </a:r>
            <a:r>
              <a:rPr lang="fr-FR" dirty="0"/>
              <a:t> </a:t>
            </a:r>
            <a:r>
              <a:rPr lang="fr-FR" dirty="0" err="1"/>
              <a:t>study</a:t>
            </a:r>
            <a:r>
              <a:rPr lang="fr-FR" dirty="0"/>
              <a:t>. </a:t>
            </a:r>
            <a:r>
              <a:rPr lang="fr-FR" dirty="0" err="1"/>
              <a:t>These</a:t>
            </a:r>
            <a:r>
              <a:rPr lang="fr-FR" dirty="0"/>
              <a:t> </a:t>
            </a:r>
            <a:r>
              <a:rPr lang="fr-FR" dirty="0" err="1"/>
              <a:t>normalized</a:t>
            </a:r>
            <a:r>
              <a:rPr lang="fr-FR" dirty="0"/>
              <a:t> </a:t>
            </a:r>
            <a:r>
              <a:rPr lang="fr-FR" dirty="0" err="1"/>
              <a:t>THDs</a:t>
            </a:r>
            <a:r>
              <a:rPr lang="fr-FR" dirty="0"/>
              <a:t> are multiples of standard </a:t>
            </a:r>
            <a:r>
              <a:rPr lang="fr-FR" dirty="0" err="1"/>
              <a:t>deviations</a:t>
            </a:r>
            <a:r>
              <a:rPr lang="fr-FR" dirty="0"/>
              <a:t> </a:t>
            </a:r>
            <a:r>
              <a:rPr lang="fr-FR" dirty="0" err="1"/>
              <a:t>from</a:t>
            </a:r>
            <a:r>
              <a:rPr lang="fr-FR" dirty="0"/>
              <a:t> the </a:t>
            </a:r>
            <a:r>
              <a:rPr lang="fr-FR" dirty="0" err="1"/>
              <a:t>mean</a:t>
            </a:r>
            <a:r>
              <a:rPr lang="fr-FR" dirty="0"/>
              <a:t> of the population, </a:t>
            </a:r>
            <a:r>
              <a:rPr lang="fr-FR" dirty="0" err="1"/>
              <a:t>similar</a:t>
            </a:r>
            <a:r>
              <a:rPr lang="fr-FR" dirty="0"/>
              <a:t> to Z-scores. </a:t>
            </a:r>
            <a:r>
              <a:rPr lang="fr-FR" dirty="0" err="1"/>
              <a:t>They</a:t>
            </a:r>
            <a:r>
              <a:rPr lang="fr-FR" dirty="0"/>
              <a:t> are not comparable </a:t>
            </a:r>
            <a:r>
              <a:rPr lang="fr-FR" dirty="0" err="1"/>
              <a:t>across</a:t>
            </a:r>
            <a:r>
              <a:rPr lang="fr-FR" dirty="0"/>
              <a:t> </a:t>
            </a:r>
            <a:r>
              <a:rPr lang="fr-FR" dirty="0" err="1"/>
              <a:t>studies</a:t>
            </a:r>
            <a:r>
              <a:rPr lang="fr-FR" dirty="0"/>
              <a:t>, as </a:t>
            </a:r>
            <a:r>
              <a:rPr lang="fr-FR" dirty="0" err="1"/>
              <a:t>they</a:t>
            </a:r>
            <a:r>
              <a:rPr lang="fr-FR" dirty="0"/>
              <a:t> </a:t>
            </a:r>
            <a:r>
              <a:rPr lang="fr-FR" dirty="0" err="1"/>
              <a:t>depend</a:t>
            </a:r>
            <a:r>
              <a:rPr lang="fr-FR" dirty="0"/>
              <a:t> on a </a:t>
            </a:r>
            <a:r>
              <a:rPr lang="fr-FR" dirty="0" err="1"/>
              <a:t>given</a:t>
            </a:r>
            <a:r>
              <a:rPr lang="fr-FR" dirty="0"/>
              <a:t> population, but </a:t>
            </a:r>
            <a:r>
              <a:rPr lang="fr-FR" dirty="0" err="1"/>
              <a:t>they</a:t>
            </a:r>
            <a:r>
              <a:rPr lang="fr-FR" dirty="0"/>
              <a:t> </a:t>
            </a:r>
            <a:r>
              <a:rPr lang="fr-FR" dirty="0" err="1"/>
              <a:t>can</a:t>
            </a:r>
            <a:r>
              <a:rPr lang="fr-FR" dirty="0"/>
              <a:t> </a:t>
            </a:r>
            <a:r>
              <a:rPr lang="fr-FR" dirty="0" err="1"/>
              <a:t>be</a:t>
            </a:r>
            <a:r>
              <a:rPr lang="fr-FR" dirty="0"/>
              <a:t> </a:t>
            </a:r>
            <a:r>
              <a:rPr lang="fr-FR" dirty="0" err="1"/>
              <a:t>compared</a:t>
            </a:r>
            <a:r>
              <a:rPr lang="fr-FR" dirty="0"/>
              <a:t> </a:t>
            </a:r>
            <a:r>
              <a:rPr lang="fr-FR" dirty="0" err="1"/>
              <a:t>between</a:t>
            </a:r>
            <a:r>
              <a:rPr lang="fr-FR" dirty="0"/>
              <a:t> </a:t>
            </a:r>
            <a:r>
              <a:rPr lang="fr-FR" dirty="0" err="1"/>
              <a:t>different</a:t>
            </a:r>
            <a:r>
              <a:rPr lang="fr-FR" dirty="0"/>
              <a:t> </a:t>
            </a:r>
            <a:r>
              <a:rPr lang="fr-FR" dirty="0" err="1"/>
              <a:t>timescales</a:t>
            </a:r>
            <a:r>
              <a:rPr lang="fr-FR" dirty="0"/>
              <a:t>.</a:t>
            </a:r>
          </a:p>
        </p:txBody>
      </p:sp>
    </p:spTree>
    <p:extLst>
      <p:ext uri="{BB962C8B-B14F-4D97-AF65-F5344CB8AC3E}">
        <p14:creationId xmlns:p14="http://schemas.microsoft.com/office/powerpoint/2010/main" val="3443373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BB60B-0587-1D47-94D9-7AC0165B5598}"/>
              </a:ext>
            </a:extLst>
          </p:cNvPr>
          <p:cNvSpPr/>
          <p:nvPr/>
        </p:nvSpPr>
        <p:spPr>
          <a:xfrm>
            <a:off x="353568" y="1249275"/>
            <a:ext cx="11582400" cy="4524315"/>
          </a:xfrm>
          <a:prstGeom prst="rect">
            <a:avLst/>
          </a:prstGeom>
        </p:spPr>
        <p:txBody>
          <a:bodyPr wrap="square">
            <a:spAutoFit/>
          </a:bodyPr>
          <a:lstStyle/>
          <a:p>
            <a:r>
              <a:rPr lang="fr-FR" b="1" dirty="0"/>
              <a:t>Résumé, mise à l'échelle et normalisation du THD. </a:t>
            </a:r>
          </a:p>
          <a:p>
            <a:endParaRPr lang="fr-FR" dirty="0"/>
          </a:p>
          <a:p>
            <a:r>
              <a:rPr lang="fr-FR" dirty="0"/>
              <a:t>Les THD étant des probabilités, les statistiques agrégées pour les groupes d'isolats doivent utiliser des produits pour représenter la probabilité conjointe des isolats dans le groupe. Par conséquent, nous utilisons des moyennes géométriques plutôt que des moyennes arithmétiques et nous transformons les THD en logarithmes avant de les inclure dans des modèles linéaires. </a:t>
            </a:r>
          </a:p>
          <a:p>
            <a:endParaRPr lang="fr-FR" dirty="0"/>
          </a:p>
          <a:p>
            <a:r>
              <a:rPr lang="fr-FR" dirty="0"/>
              <a:t>Comme les estimations du THD sont inversement proportionnelles au nombre de </a:t>
            </a:r>
            <a:r>
              <a:rPr lang="fr-FR" dirty="0" err="1"/>
              <a:t>loci</a:t>
            </a:r>
            <a:r>
              <a:rPr lang="fr-FR" dirty="0"/>
              <a:t> m et sensibles à l'échelle de temps, nous proposons deux modifications pour faciliter la comparaison. Premièrement, les THD peuvent être multipliés par le nombre de </a:t>
            </a:r>
            <a:r>
              <a:rPr lang="fr-FR" dirty="0" err="1"/>
              <a:t>loci</a:t>
            </a:r>
            <a:r>
              <a:rPr lang="fr-FR" dirty="0"/>
              <a:t>. Ces THD mis à l'échelle sont invariants par rapport à m (figure 2 et figure supplémentaire S1), ce qui pourrait faciliter la comparaison entre des THD ayant une échelle de temps similaire mais obtenus avec des méthodes différentes, par exemple le typage des </a:t>
            </a:r>
            <a:r>
              <a:rPr lang="fr-FR" dirty="0" err="1"/>
              <a:t>minisatellites</a:t>
            </a:r>
            <a:r>
              <a:rPr lang="fr-FR" dirty="0"/>
              <a:t> par rapport au séquençage de l'ADN. Deuxièmement, les log-THD peuvent être centrés et mis à l'échelle par rapport à la population étudiée. Ces THD normalisés sont des multiples d'écarts types par rapport à la moyenne de la population, similaires aux scores Z. Ils ne sont pas comparables d'une étude à l'autre, car ils ne peuvent pas être comparés entre eux. Ils ne sont pas comparables d'une étude à l'autre, car ils dépendent d'une population donnée, mais ils peuvent être comparés entre différentes échelles de temps.</a:t>
            </a:r>
          </a:p>
        </p:txBody>
      </p:sp>
    </p:spTree>
    <p:extLst>
      <p:ext uri="{BB962C8B-B14F-4D97-AF65-F5344CB8AC3E}">
        <p14:creationId xmlns:p14="http://schemas.microsoft.com/office/powerpoint/2010/main" val="397172969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3111</Words>
  <Application>Microsoft Macintosh PowerPoint</Application>
  <PresentationFormat>Grand écran</PresentationFormat>
  <Paragraphs>80</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Arial</vt:lpstr>
      <vt:lpstr>Calibri</vt:lpstr>
      <vt:lpstr>Calibri Light</vt:lpstr>
      <vt:lpstr>Helvetica</vt:lpstr>
      <vt:lpstr>Minion Pro</vt:lpstr>
      <vt:lpstr>STIXGeneral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Methodes</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Christophe Sola</dc:creator>
  <cp:lastModifiedBy>Christophe Sola</cp:lastModifiedBy>
  <cp:revision>7</cp:revision>
  <dcterms:created xsi:type="dcterms:W3CDTF">2024-01-12T11:04:21Z</dcterms:created>
  <dcterms:modified xsi:type="dcterms:W3CDTF">2024-01-12T11:52:56Z</dcterms:modified>
</cp:coreProperties>
</file>