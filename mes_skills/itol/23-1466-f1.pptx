
<file path=[Content_Types].xml><?xml version="1.0" encoding="utf-8"?>
<Types xmlns="http://schemas.openxmlformats.org/package/2006/content-types">
  <Default Extension="rels" ContentType="application/vnd.openxmlformats-package.relationships+xml"/>
  <Default Extension="jpeg" ContentType="image/jpe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Generated by Spire.Presentation for .NET 4.11.12.10046-->
<p:presentation xmlns:a="http://schemas.openxmlformats.org/drawingml/2006/main" xmlns:r="http://schemas.openxmlformats.org/officeDocument/2006/relationships" xmlns:p="http://schemas.openxmlformats.org/presentationml/2006/main" saveSubsetFonts="1">
  <p:sldMasterIdLst>
    <p:sldMasterId r:id="rId1" id="2147483648"/>
  </p:sldMasterIdLst>
  <p:sldIdLst>
    <p:sldId r:id="rId2" id="256"/>
  </p:sldIdLst>
  <p:sldSz cx="9144000" cy="6858000" type="screen4x3"/>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21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 Id="rId7" Type="http://schemas.openxmlformats.org/officeDocument/2006/relationships/tags" Target="tags/tag1.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p:nvPr>
            <p:ph type="ctrTitle"/>
          </p:nvPr>
        </p:nvSpPr>
        <p:spPr>
          <a:xfrm>
            <a:off x="685800" y="2130425"/>
            <a:ext cx="7772400" cy="1470025"/>
          </a:xfrm>
        </p:spPr>
        <p:txBody>
          <a:bodyPr/>
          <a:lstStyle/>
          <a:p>
            <a:r>
              <a:rPr lang="en-US" dirty="1" smtClean="0"/>
              <a:t>Click to edit Master title style</a:t>
            </a:r>
            <a:endParaRPr lang="en-US"/>
          </a:p>
        </p:txBody>
      </p:sp>
      <p:sp>
        <p:nvSpPr>
          <p:cNvPr id="3" name="Subtitle 2"/>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1" smtClean="0"/>
              <a:t>Click to edit Master subtitle style</a:t>
            </a:r>
            <a:endParaRPr lang="en-US"/>
          </a:p>
        </p:txBody>
      </p:sp>
      <p:sp>
        <p:nvSpPr>
          <p:cNvPr id="4" name="Date Placeholder 3"/>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p:nvPr>
            <p:ph type="title"/>
          </p:nvPr>
        </p:nvSpPr>
        <p:spPr/>
        <p:txBody>
          <a:bodyPr/>
          <a:lstStyle/>
          <a:p>
            <a:r>
              <a:rPr lang="en-US" dirty="1" smtClean="0"/>
              <a:t>Click to edit Master title style</a:t>
            </a:r>
            <a:endParaRPr lang="en-US"/>
          </a:p>
        </p:txBody>
      </p:sp>
      <p:sp>
        <p:nvSpPr>
          <p:cNvPr id="3" name="Content Placeholder 2"/>
          <p:cNvSpPr/>
          <p:nvPr>
            <p:ph type="obj" idx="1"/>
          </p:nvPr>
        </p:nvSpPr>
        <p:spPr/>
        <p:txBody>
          <a:body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p:nvPr>
            <p:ph type="title"/>
          </p:nvPr>
        </p:nvSpPr>
        <p:spPr>
          <a:xfrm>
            <a:off x="722313" y="4406900"/>
            <a:ext cx="7772400" cy="1362075"/>
          </a:xfrm>
        </p:spPr>
        <p:txBody>
          <a:bodyPr anchor="t"/>
          <a:lstStyle>
            <a:lvl1pPr algn="l">
              <a:defRPr sz="4000" b="1" cap="all"/>
            </a:lvl1pPr>
          </a:lstStyle>
          <a:p>
            <a:r>
              <a:rPr lang="en-US" dirty="1" smtClean="0"/>
              <a:t>Click to edit Master title style</a:t>
            </a:r>
            <a:endParaRPr lang="en-US"/>
          </a:p>
        </p:txBody>
      </p:sp>
      <p:sp>
        <p:nvSpPr>
          <p:cNvPr id="3" name="Text Placeholder 2"/>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1" smtClean="0"/>
              <a:t>Click to edit Master text styles</a:t>
            </a:r>
          </a:p>
        </p:txBody>
      </p:sp>
      <p:sp>
        <p:nvSpPr>
          <p:cNvPr id="4" name="Date Placeholder 3"/>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p:nvPr>
            <p:ph type="title"/>
          </p:nvPr>
        </p:nvSpPr>
        <p:spPr/>
        <p:txBody>
          <a:bodyPr/>
          <a:lstStyle/>
          <a:p>
            <a:r>
              <a:rPr lang="en-US" dirty="1" smtClean="0"/>
              <a:t>Click to edit Master title style</a:t>
            </a:r>
            <a:endParaRPr lang="en-US"/>
          </a:p>
        </p:txBody>
      </p:sp>
      <p:sp>
        <p:nvSpPr>
          <p:cNvPr id="3" name="Content Placeholder 2"/>
          <p:cNvSpPr/>
          <p:nvPr>
            <p:ph type="obj"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Content Placeholder 3"/>
          <p:cNvSpPr/>
          <p:nvPr>
            <p:ph type="obj"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5" name="Date Placeholder 4"/>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p:nvPr>
            <p:ph type="title"/>
          </p:nvPr>
        </p:nvSpPr>
        <p:spPr/>
        <p:txBody>
          <a:bodyPr/>
          <a:lstStyle>
            <a:lvl1pPr>
              <a:defRPr/>
            </a:lvl1pPr>
          </a:lstStyle>
          <a:p>
            <a:r>
              <a:rPr lang="en-US" dirty="1" smtClean="0"/>
              <a:t>Click to edit Master title style</a:t>
            </a:r>
            <a:endParaRPr lang="en-US"/>
          </a:p>
        </p:txBody>
      </p:sp>
      <p:sp>
        <p:nvSpPr>
          <p:cNvPr id="3" name="Text Placeholder 2"/>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1" smtClean="0"/>
              <a:t>Click to edit Master text styles</a:t>
            </a:r>
          </a:p>
        </p:txBody>
      </p:sp>
      <p:sp>
        <p:nvSpPr>
          <p:cNvPr id="4" name="Content Placeholder 3"/>
          <p:cNvSpPr/>
          <p:nvPr>
            <p:ph type="obj"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5" name="Text Placeholder 4"/>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1" smtClean="0"/>
              <a:t>Click to edit Master text styles</a:t>
            </a:r>
          </a:p>
        </p:txBody>
      </p:sp>
      <p:sp>
        <p:nvSpPr>
          <p:cNvPr id="6" name="Content Placeholder 5"/>
          <p:cNvSpPr/>
          <p:nvPr>
            <p:ph type="obj"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7" name="Date Placeholder 6"/>
          <p:cNvSpPr/>
          <p:nvPr>
            <p:ph type="dt" sz="half" idx="10"/>
          </p:nvPr>
        </p:nvSpPr>
        <p:spPr/>
        <p:txBody>
          <a:bodyPr/>
          <a:lstStyle/>
          <a:p>
            <a:fld id="{E8FD0B7A-F5DD-4F40-B4CB-3B2C354B893A}" type="datetimeFigureOut">
              <a:rPr lang="en-US" smtClean="0"/>
              <a:t>3/4/2014</a:t>
            </a:fld>
            <a:endParaRPr lang="en-US"/>
          </a:p>
        </p:txBody>
      </p:sp>
      <p:sp>
        <p:nvSpPr>
          <p:cNvPr id="8" name="Footer Placeholder 7"/>
          <p:cNvSpPr/>
          <p:nvPr>
            <p:ph type="ftr" sz="quarter" idx="11"/>
          </p:nvPr>
        </p:nvSpPr>
        <p:spPr/>
        <p:txBody>
          <a:bodyPr/>
          <a:lstStyle/>
          <a:p>
            <a:endParaRPr lang="en-US"/>
          </a:p>
        </p:txBody>
      </p:sp>
      <p:sp>
        <p:nvSpPr>
          <p:cNvPr id="9" name="Slide Number Placeholder 8"/>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p:nvPr>
            <p:ph type="title"/>
          </p:nvPr>
        </p:nvSpPr>
        <p:spPr/>
        <p:txBody>
          <a:bodyPr/>
          <a:lstStyle/>
          <a:p>
            <a:r>
              <a:rPr lang="en-US" dirty="1" smtClean="0"/>
              <a:t>Click to edit Master title style</a:t>
            </a:r>
            <a:endParaRPr lang="en-US"/>
          </a:p>
        </p:txBody>
      </p:sp>
      <p:sp>
        <p:nvSpPr>
          <p:cNvPr id="3" name="Date Placeholder 2"/>
          <p:cNvSpPr/>
          <p:nvPr>
            <p:ph type="dt" sz="half" idx="10"/>
          </p:nvPr>
        </p:nvSpPr>
        <p:spPr/>
        <p:txBody>
          <a:bodyPr/>
          <a:lstStyle/>
          <a:p>
            <a:fld id="{E8FD0B7A-F5DD-4F40-B4CB-3B2C354B893A}" type="datetimeFigureOut">
              <a:rPr lang="en-US" smtClean="0"/>
              <a:t>3/4/2014</a:t>
            </a:fld>
            <a:endParaRPr lang="en-US"/>
          </a:p>
        </p:txBody>
      </p:sp>
      <p:sp>
        <p:nvSpPr>
          <p:cNvPr id="4" name="Footer Placeholder 3"/>
          <p:cNvSpPr/>
          <p:nvPr>
            <p:ph type="ftr" sz="quarter" idx="11"/>
          </p:nvPr>
        </p:nvSpPr>
        <p:spPr/>
        <p:txBody>
          <a:bodyPr/>
          <a:lstStyle/>
          <a:p>
            <a:endParaRPr lang="en-US"/>
          </a:p>
        </p:txBody>
      </p:sp>
      <p:sp>
        <p:nvSpPr>
          <p:cNvPr id="5" name="Slide Number Placeholder 4"/>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p:nvPr>
            <p:ph type="dt" sz="half" idx="10"/>
          </p:nvPr>
        </p:nvSpPr>
        <p:spPr/>
        <p:txBody>
          <a:bodyPr/>
          <a:lstStyle/>
          <a:p>
            <a:fld id="{E8FD0B7A-F5DD-4F40-B4CB-3B2C354B893A}" type="datetimeFigureOut">
              <a:rPr lang="en-US" smtClean="0"/>
              <a:t>3/4/2014</a:t>
            </a:fld>
            <a:endParaRPr lang="en-US"/>
          </a:p>
        </p:txBody>
      </p:sp>
      <p:sp>
        <p:nvSpPr>
          <p:cNvPr id="3" name="Footer Placeholder 2"/>
          <p:cNvSpPr/>
          <p:nvPr>
            <p:ph type="ftr" sz="quarter" idx="11"/>
          </p:nvPr>
        </p:nvSpPr>
        <p:spPr/>
        <p:txBody>
          <a:bodyPr/>
          <a:lstStyle/>
          <a:p>
            <a:endParaRPr lang="en-US"/>
          </a:p>
        </p:txBody>
      </p:sp>
      <p:sp>
        <p:nvSpPr>
          <p:cNvPr id="4" name="Slide Number Placeholder 3"/>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p:nvPr>
            <p:ph type="title"/>
          </p:nvPr>
        </p:nvSpPr>
        <p:spPr>
          <a:xfrm>
            <a:off x="457200" y="273050"/>
            <a:ext cx="3008313" cy="1162050"/>
          </a:xfrm>
        </p:spPr>
        <p:txBody>
          <a:bodyPr anchor="b"/>
          <a:lstStyle>
            <a:lvl1pPr algn="l">
              <a:defRPr sz="2000" b="1"/>
            </a:lvl1pPr>
          </a:lstStyle>
          <a:p>
            <a:r>
              <a:rPr lang="en-US" dirty="1" smtClean="0"/>
              <a:t>Click to edit Master title style</a:t>
            </a:r>
            <a:endParaRPr lang="en-US"/>
          </a:p>
        </p:txBody>
      </p:sp>
      <p:sp>
        <p:nvSpPr>
          <p:cNvPr id="3" name="Content Placeholder 2"/>
          <p:cNvSpPr/>
          <p:nvPr>
            <p:ph type="obj"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Text Placeholder 3"/>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1" smtClean="0"/>
              <a:t>Click to edit Master text styles</a:t>
            </a:r>
          </a:p>
        </p:txBody>
      </p:sp>
      <p:sp>
        <p:nvSpPr>
          <p:cNvPr id="5" name="Date Placeholder 4"/>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p:nvPr>
            <p:ph type="title"/>
          </p:nvPr>
        </p:nvSpPr>
        <p:spPr>
          <a:xfrm>
            <a:off x="1792288" y="4800600"/>
            <a:ext cx="5486400" cy="566738"/>
          </a:xfrm>
        </p:spPr>
        <p:txBody>
          <a:bodyPr anchor="b"/>
          <a:lstStyle>
            <a:lvl1pPr algn="l">
              <a:defRPr sz="2000" b="1"/>
            </a:lvl1pPr>
          </a:lstStyle>
          <a:p>
            <a:r>
              <a:rPr lang="en-US" dirty="1" smtClean="0"/>
              <a:t>Click to edit Master title style</a:t>
            </a:r>
            <a:endParaRPr lang="en-US"/>
          </a:p>
        </p:txBody>
      </p:sp>
      <p:sp>
        <p:nvSpPr>
          <p:cNvPr id="3" name="Picture Placeholder 2"/>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1" smtClean="0"/>
              <a:t>Click to edit Master text styles</a:t>
            </a:r>
          </a:p>
        </p:txBody>
      </p:sp>
      <p:sp>
        <p:nvSpPr>
          <p:cNvPr id="5" name="Date Placeholder 4"/>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p:nvPr>
            <p:ph type="title"/>
          </p:nvPr>
        </p:nvSpPr>
        <p:spPr/>
        <p:txBody>
          <a:bodyPr/>
          <a:lstStyle/>
          <a:p>
            <a:r>
              <a:rPr lang="en-US" dirty="1" smtClean="0"/>
              <a:t>Click to edit Master title style</a:t>
            </a:r>
            <a:endParaRPr lang="en-US"/>
          </a:p>
        </p:txBody>
      </p:sp>
      <p:sp>
        <p:nvSpPr>
          <p:cNvPr id="3" name="Vertical Text Placeholder 2"/>
          <p:cNvSpPr/>
          <p:nvPr>
            <p:ph type="body" orient="vert" idx="1"/>
          </p:nvPr>
        </p:nvSpPr>
        <p:spPr/>
        <p:txBody>
          <a:bodyPr vert="eaVert"/>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p:nvPr>
            <p:ph type="title" orient="vert"/>
          </p:nvPr>
        </p:nvSpPr>
        <p:spPr>
          <a:xfrm>
            <a:off x="6629400" y="274638"/>
            <a:ext cx="2057400" cy="5851525"/>
          </a:xfrm>
        </p:spPr>
        <p:txBody>
          <a:bodyPr vert="eaVert"/>
          <a:lstStyle/>
          <a:p>
            <a:r>
              <a:rPr lang="en-US" dirty="1" smtClean="0"/>
              <a:t>Click to edit Master title style</a:t>
            </a:r>
            <a:endParaRPr lang="en-US"/>
          </a:p>
        </p:txBody>
      </p:sp>
      <p:sp>
        <p:nvSpPr>
          <p:cNvPr id="3" name="Vertical Text Placeholder 2"/>
          <p:cNvSpPr/>
          <p:nvPr>
            <p:ph type="body" orient="vert" idx="1"/>
          </p:nvPr>
        </p:nvSpPr>
        <p:spPr>
          <a:xfrm>
            <a:off x="457200" y="274638"/>
            <a:ext cx="6019800" cy="5851525"/>
          </a:xfrm>
        </p:spPr>
        <p:txBody>
          <a:bodyPr vert="eaVert"/>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a:xfrm>
          <a:off x="0" y="0"/>
          <a:ext cx="0" cy="0"/>
          <a:chOff x="0" y="0"/>
          <a:chExt cx="0" cy="0"/>
        </a:xfrm>
      </p:grpSpPr>
      <p:sp>
        <p:nvSpPr>
          <p:cNvPr id="2" name="Title Placeholder 1"/>
          <p:cNvSpPr/>
          <p:nvPr>
            <p:ph type="title"/>
          </p:nvPr>
        </p:nvSpPr>
        <p:spPr>
          <a:xfrm>
            <a:off x="457200" y="274638"/>
            <a:ext cx="8229600" cy="1143000"/>
          </a:xfrm>
          <a:prstGeom prst="rect"/>
        </p:spPr>
        <p:txBody>
          <a:bodyPr vert="horz" lIns="91440" tIns="45720" rIns="91440" bIns="45720" rtlCol="0" anchor="ctr">
            <a:normAutofit/>
          </a:bodyPr>
          <a:lstStyle/>
          <a:p>
            <a:r>
              <a:rPr lang="en-US" dirty="1" smtClean="0"/>
              <a:t>Click to edit Master title style</a:t>
            </a:r>
            <a:endParaRPr lang="en-US"/>
          </a:p>
        </p:txBody>
      </p:sp>
      <p:sp>
        <p:nvSpPr>
          <p:cNvPr id="3" name="Text Placeholder 2"/>
          <p:cNvSpPr/>
          <p:nvPr>
            <p:ph type="body" idx="1"/>
          </p:nvPr>
        </p:nvSpPr>
        <p:spPr>
          <a:xfrm>
            <a:off x="457200" y="1600200"/>
            <a:ext cx="8229600" cy="4525963"/>
          </a:xfrm>
          <a:prstGeom prst="rect"/>
        </p:spPr>
        <p:txBody>
          <a:bodyPr vert="horz" lIns="91440" tIns="45720" rIns="91440" bIns="45720" rtlCol="0">
            <a:normAutofit/>
          </a:body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p:nvPr>
            <p:ph type="dt" sz="half" idx="2"/>
          </p:nvPr>
        </p:nvSpPr>
        <p:spPr>
          <a:xfrm>
            <a:off x="457200" y="6356350"/>
            <a:ext cx="2133600" cy="365125"/>
          </a:xfrm>
          <a:prstGeom prst="rect"/>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3/4/2014</a:t>
            </a:fld>
            <a:endParaRPr lang="en-US"/>
          </a:p>
        </p:txBody>
      </p:sp>
      <p:sp>
        <p:nvSpPr>
          <p:cNvPr id="5" name="Footer Placeholder 4"/>
          <p:cNvSpPr/>
          <p:nvPr>
            <p:ph type="ftr" sz="quarter" idx="3"/>
          </p:nvPr>
        </p:nvSpPr>
        <p:spPr>
          <a:xfrm>
            <a:off x="3124200" y="6356350"/>
            <a:ext cx="2895600" cy="365125"/>
          </a:xfrm>
          <a:prstGeom prst="rect"/>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p:nvPr>
            <p:ph type="sldNum" sz="quarter" idx="4"/>
          </p:nvPr>
        </p:nvSpPr>
        <p:spPr>
          <a:xfrm>
            <a:off x="6553200" y="6356350"/>
            <a:ext cx="2133600" cy="365125"/>
          </a:xfrm>
          <a:prstGeom prst="rect"/>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fast"/>
  <p:timing>
    <p:tnLst>
      <p:par>
        <p:cTn id="1"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jpeg" /></Relationships>
</file>

<file path=ppt/slides/slide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2" name="New shape"/>
          <p:cNvSpPr/>
          <p:nvPr/>
        </p:nvSpPr>
        <p:spPr>
          <a:xfrm>
            <a:off x="127000" y="127000"/>
            <a:ext cx="8890000" cy="381000"/>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000" b="1" dirty="1">
                <a:solidFill>
                  <a:srgbClr val="000000"/>
                </a:solidFill>
              </a:rPr>
              <a:t>Figure</a:t>
            </a:r>
          </a:p>
        </p:txBody>
      </p:sp>
      <p:pic>
        <p:nvPicPr>
          <p:cNvPr id="3" name="New picture"/>
          <p:cNvPicPr/>
          <p:nvPr/>
        </p:nvPicPr>
        <p:blipFill>
          <a:blip r:embed="rId2"/>
          <a:srcRect/>
          <a:stretch>
            <a:fillRect/>
          </a:stretch>
        </p:blipFill>
        <p:spPr>
          <a:xfrm>
            <a:off x="2012950" y="635000"/>
            <a:ext cx="5118100" cy="4318000"/>
          </a:xfrm>
          <a:prstGeom prst="rect"/>
          <a:noFill/>
          <a:ln>
            <a:noFill/>
          </a:ln>
        </p:spPr>
      </p:pic>
      <p:sp>
        <p:nvSpPr>
          <p:cNvPr id="4" name="New shape"/>
          <p:cNvSpPr/>
          <p:nvPr/>
        </p:nvSpPr>
        <p:spPr>
          <a:xfrm>
            <a:off x="127000" y="4953000"/>
            <a:ext cx="8890000" cy="1270000"/>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l"/>
            <a:r>
              <a:rPr lang="en-US" dirty="1">
                <a:solidFill>
                  <a:srgbClr val="000000"/>
                </a:solidFill>
              </a:rPr>
              <a:t>Figure. Global Mycobacterium phylogeny including newly identified M. africanum L10 (proposed) strains (green shading). We selected M. africanum samples for harboring RD9 deletion, having documented country of origin (for the purpose of additional analyses; Appendix 2, Figure 2), and refined our selection to retain a sole representative of each sublineage for each country. This sample represents representing the genetic and geographic diversity of M. africanum in Africa. Specifically for this phylogenetic reconstruction, single-nucleotide polymorphisms were identified in comparison with an M. tuberculosis ancestor (11) and reincorporated into the whole genome to avoid biases in the molecular model or need for Lewis correction. Phylogeny was rooted with M. canettii, subsequently removed for better visualization. Bootstrap support was computed using 100 replicates and shown when ≥0.6. Circles confirm the large support of almost all branches, especially of L10 and its sister branches. L10 branching point lies between L9 and the La_A1 lineage grouping chimpanzee and Dassie bacillus. Scale bar indicates nucleotide substitutions per site.</a:t>
            </a:r>
          </a:p>
        </p:txBody>
      </p:sp>
      <p:sp>
        <p:nvSpPr>
          <p:cNvPr id="5" name="New shape"/>
          <p:cNvSpPr/>
          <p:nvPr/>
        </p:nvSpPr>
        <p:spPr>
          <a:xfrm>
            <a:off x="127000" y="6223000"/>
            <a:ext cx="8890000" cy="381000"/>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l"/>
            <a:r>
              <a:rPr lang="en-US" dirty="1">
                <a:solidFill>
                  <a:srgbClr val="000000"/>
                </a:solidFill>
              </a:rPr>
              <a:t>Guyeux C, Senelle G, Le Meur A, Supply P, Gaudin C, Phelan JE, et al. Newly Identified Mycobacterium africanum Lineage 10, Central Africa. Emerg Infect Dis. 2024;30(3):560-563. https://doi.org/10.3201/eid3003.231466</a:t>
            </a:r>
          </a:p>
        </p:txBody>
      </p:sp>
    </p:spTree>
  </p:cSld>
  <p:clrMapOvr>
    <a:masterClrMapping/>
  </p:clrMapOvr>
  <p:transition spd="fast"/>
  <p:timing>
    <p:tnLst>
      <p:par>
        <p:cTn id="1" restart="never" nodeType="tmRoot"/>
      </p:par>
    </p:tnLst>
  </p:timing>
</p:sld>
</file>

<file path=ppt/tags/tag1.xml><?xml version="1.0" encoding="utf-8"?>
<p:tagLst xmlns:p="http://schemas.openxmlformats.org/presentationml/2006/main">
  <p:tag name="AS_NET" val="4.0.30319.42000"/>
  <p:tag name="AS_OS" val="Microsoft Windows NT 10.0.20348.0"/>
  <p:tag name="AS_RELEASE_DATE" val="2013.12.17"/>
  <p:tag name="AS_TITLE" val="Spire.Presentation for .NET "/>
  <p:tag name="AS_VERSION" val="2.1.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alibri"/>
        <a:ea typeface=""/>
        <a:cs typeface=""/>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prst="circ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1</TotalTime>
  <Application>Emerging Infectious Diseases journal</Application>
  <PresentationFormat>全屏显示(4:3)</PresentationFormat>
  <Slides>1</Slides>
  <ScaleCrop>false</ScaleCrop>
  <HeadingPairs>
    <vt:vector size="4" baseType="variant">
      <vt:variant>
        <vt:lpstr>主题</vt:lpstr>
      </vt:variant>
      <vt:variant>
        <vt:i4>1</vt:i4>
      </vt:variant>
      <vt:variant>
        <vt:lpstr>幻灯片标题</vt:lpstr>
      </vt:variant>
      <vt:variant>
        <vt:i4>1</vt:i4>
      </vt:variant>
    </vt:vector>
  </HeadingPairs>
  <LinksUpToDate>false</LinksUpToDate>
  <SharedDoc>false</SharedDoc>
  <HyperlinksChanged>false</HyperlinksChanged>
  <AppVersion>14.0000</AppVersion>
  <Company>Emerging Infectious Diseases journal</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 Newly Identified Mycobacterium africanum Lineage 10, Central Africa</dc:title>
  <cp:lastModifiedBy/>
  <cp:revision>1</cp:revision>
  <dcterms:created xsi:type="dcterms:W3CDTF">2026-03-31T06:09:22.5332287Z</dcterms:created>
  <dcterms:modified xsi:type="dcterms:W3CDTF">2026-03-31T06:09:22.5332287Z</dcterms:modified>
  <dc:creator>C. Guyeux et al.</dc:creator>
  <cp:keywords>Mycobacterium tuberculosis, tuberculosis and other mycobacteria, TB, respiratory infections, bacteria, pathogen diversification, tuberculosis emergence, lineage 10, L10, central Africa, Democratic Republic of the Congo</cp:keywords>
  <dc:description>Presentation created from Figure of Newly Identified Mycobacterium africanum Lineage 10, Central Africa published in the Emerging Infectious Diseases journal volume 30, number 3.</dc:description>
  <cp:category>General</cp:category>
</cp:coreProperties>
</file>